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685333e7-cb39-b226-7678-9c50925a4d77}">
          <p14:sldIdLst>
            <p14:sldId id="256"/>
            <p14:sldId id="257"/>
          </p14:sldIdLst>
        </p14:section>
        <p14:section name="Solution" id="{18e64bc6-dfa1-1dbf-c06e-f62098fdce44}">
          <p14:sldIdLst>
            <p14:sldId id="258"/>
            <p14:sldId id="259"/>
          </p14:sldIdLst>
        </p14:section>
        <p14:section name="Product" id="{84549118-9ed6-66e7-9fa7-7a835a77abf2}">
          <p14:sldIdLst>
            <p14:sldId id="260"/>
            <p14:sldId id="261"/>
            <p14:sldId id="262"/>
          </p14:sldIdLst>
        </p14:section>
        <p14:section name="Close" id="{3178c8b9-8e36-b161-e96d-82e79805b898}">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D1117"/>
                </a:solidFill>
                <a:latin typeface="+mn-lt"/>
              </a:defRPr>
            </a:pPr>
            <a:r>
              <a:rPr sz="1200" b="0" i="0" u="none" strike="noStrike">
                <a:solidFill>
                  <a:srgbClr val="0D1117"/>
                </a:solidFill>
                <a:latin typeface="+mn-lt"/>
              </a:rPr>
              <a:t>High-risk students by department</a:t>
            </a:r>
          </a:p>
        </c:rich>
      </c:tx>
      <c:layout/>
      <c:overlay val="0"/>
    </c:title>
    <c:autoTitleDeleted val="0"/>
    <c:plotArea>
      <c:layout/>
      <c:barChart>
        <c:barDir val="col"/>
        <c:grouping val="clustered"/>
        <c:varyColors val="0"/>
        <c:ser>
          <c:idx val="0"/>
          <c:order val="0"/>
          <c:tx>
            <c:strRef>
              <c:f>Sheet1!$B$1</c:f>
              <c:strCache>
                <c:ptCount val="1"/>
                <c:pt idx="0">
                  <c:v>Academic high risk</c:v>
                </c:pt>
              </c:strCache>
            </c:strRef>
          </c:tx>
          <c:spPr>
            <a:solidFill>
              <a:srgbClr val="2A78D6"/>
            </a:solidFill>
            <a:effectLst/>
          </c:spPr>
          <c:invertIfNegative val="0"/>
          <c:dLbls>
            <c:numFmt formatCode="#,##0" sourceLinked="0"/>
            <c:txPr>
              <a:bodyPr/>
              <a:lstStyle/>
              <a:p>
                <a:pPr>
                  <a:defRPr b="0" i="0" strike="noStrike" sz="900" u="none">
                    <a:solidFill>
                      <a:srgbClr val="5B6472"/>
                    </a:solidFill>
                    <a:latin typeface="+mn-lt"/>
                  </a:defRPr>
                </a:pPr>
              </a:p>
            </c:txPr>
            <c:showLegendKey val="0"/>
            <c:showVal val="1"/>
            <c:showCatName val="0"/>
            <c:showSerName val="0"/>
            <c:showPercent val="0"/>
            <c:showBubbleSize val="0"/>
            <c:showLeaderLines val="0"/>
          </c:dLbls>
          <c:cat>
            <c:multiLvlStrRef>
              <c:f>Sheet1!$A$2:$A$6</c:f>
              <c:multiLvlStrCache>
                <c:ptCount val="5"/>
                <c:lvl>
                  <c:pt idx="0">
                    <c:v>CSE</c:v>
                  </c:pt>
                  <c:pt idx="1">
                    <c:v>AI &amp; DS</c:v>
                  </c:pt>
                  <c:pt idx="2">
                    <c:v>ECE</c:v>
                  </c:pt>
                  <c:pt idx="3">
                    <c:v>Mech</c:v>
                  </c:pt>
                  <c:pt idx="4">
                    <c:v>Civil</c:v>
                  </c:pt>
                </c:lvl>
              </c:multiLvlStrCache>
            </c:multiLvlStrRef>
          </c:cat>
          <c:val>
            <c:numRef>
              <c:f>Sheet1!$B$2:$B$6</c:f>
              <c:numCache>
                <c:formatCode>General</c:formatCode>
                <c:ptCount val="5"/>
                <c:pt idx="0">
                  <c:v>70</c:v>
                </c:pt>
                <c:pt idx="1">
                  <c:v>49</c:v>
                </c:pt>
                <c:pt idx="2">
                  <c:v>41</c:v>
                </c:pt>
                <c:pt idx="3">
                  <c:v>44</c:v>
                </c:pt>
                <c:pt idx="4">
                  <c:v>28</c:v>
                </c:pt>
              </c:numCache>
            </c:numRef>
          </c:val>
        </c:ser>
        <c:ser>
          <c:idx val="1"/>
          <c:order val="1"/>
          <c:tx>
            <c:strRef>
              <c:f>Sheet1!$C$1</c:f>
              <c:strCache>
                <c:ptCount val="1"/>
                <c:pt idx="0">
                  <c:v>Placement high risk</c:v>
                </c:pt>
              </c:strCache>
            </c:strRef>
          </c:tx>
          <c:spPr>
            <a:solidFill>
              <a:srgbClr val="EB6834"/>
            </a:solidFill>
            <a:effectLst/>
          </c:spPr>
          <c:invertIfNegative val="0"/>
          <c:dLbls>
            <c:numFmt formatCode="#,##0" sourceLinked="0"/>
            <c:txPr>
              <a:bodyPr/>
              <a:lstStyle/>
              <a:p>
                <a:pPr>
                  <a:defRPr b="0" i="0" strike="noStrike" sz="900" u="none">
                    <a:solidFill>
                      <a:srgbClr val="5B6472"/>
                    </a:solidFill>
                    <a:latin typeface="+mn-lt"/>
                  </a:defRPr>
                </a:pPr>
              </a:p>
            </c:txPr>
            <c:showLegendKey val="0"/>
            <c:showVal val="1"/>
            <c:showCatName val="0"/>
            <c:showSerName val="0"/>
            <c:showPercent val="0"/>
            <c:showBubbleSize val="0"/>
            <c:showLeaderLines val="0"/>
          </c:dLbls>
          <c:cat>
            <c:multiLvlStrRef>
              <c:f>Sheet1!$A$2:$A$6</c:f>
              <c:multiLvlStrCache>
                <c:ptCount val="5"/>
                <c:lvl>
                  <c:pt idx="0">
                    <c:v>CSE</c:v>
                  </c:pt>
                  <c:pt idx="1">
                    <c:v>AI &amp; DS</c:v>
                  </c:pt>
                  <c:pt idx="2">
                    <c:v>ECE</c:v>
                  </c:pt>
                  <c:pt idx="3">
                    <c:v>Mech</c:v>
                  </c:pt>
                  <c:pt idx="4">
                    <c:v>Civil</c:v>
                  </c:pt>
                </c:lvl>
              </c:multiLvlStrCache>
            </c:multiLvlStrRef>
          </c:cat>
          <c:val>
            <c:numRef>
              <c:f>Sheet1!$C$2:$C$6</c:f>
              <c:numCache>
                <c:formatCode>General</c:formatCode>
                <c:ptCount val="5"/>
                <c:pt idx="0">
                  <c:v>71</c:v>
                </c:pt>
                <c:pt idx="1">
                  <c:v>58</c:v>
                </c:pt>
                <c:pt idx="2">
                  <c:v>41</c:v>
                </c:pt>
                <c:pt idx="3">
                  <c:v>35</c:v>
                </c:pt>
                <c:pt idx="4">
                  <c:v>46</c:v>
                </c:pt>
              </c:numCache>
            </c:numRef>
          </c:val>
        </c:ser>
        <c:dLbls>
          <c:numFmt formatCode="#,##0" sourceLinked="0"/>
          <c:txPr>
            <a:bodyPr/>
            <a:lstStyle/>
            <a:p>
              <a:pPr>
                <a:defRPr b="0" i="0" strike="noStrike" sz="900" u="none">
                  <a:solidFill>
                    <a:srgbClr val="5B6472"/>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472"/>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B6472"/>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CampusPulse shows faculty which students need help weeks before results, and why. Each dot on the right is one of the 1,000 real students in the challenge data, coloured by their highest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systems, no single view. Faculty find out at results. In the challenge data, 187 of the 232 high-risk students never raised a support request, so a request-driven process misses most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ideas: one 0-100 score, academic and placement risk kept apart, and every flag broken down by factor. The card on the right is a real profile from the data: 41% of the risk comes from attendance, 29% from CGPA.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come straight from the 1,000-student dataset. The headline: 203 of 344 students with CGPA above 8 are still below the placement bar. Grades alone don't predict placement; coding and aptitude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ingest and join the seven files, compute the score, compute both risks with factor shares plus a Random Forest placement probability, then cluster into six segments. Next.js frontend, FastAPI backend, both on Railway.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Mentors see where risk concentrates, then act: Ctrl+K to any student, plan one session for a whole segment, and assign follow-ups that are tracked to completion. Show the live demo here if time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metrics tell the institution whether outreach works. The overall goal is to move from punitive letters after results to supportive mentoring during the semester.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and open for questions. The demo is live at the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pic>
        <p:nvPicPr>
          <p:cNvPr id="2" name="Image 0" descr="logo.png">    </p:cNvPr>
          <p:cNvPicPr>
            <a:picLocks noChangeAspect="1"/>
          </p:cNvPicPr>
          <p:nvPr/>
        </p:nvPicPr>
        <p:blipFill>
          <a:blip r:embed="rId1"/>
          <a:stretch>
            <a:fillRect/>
          </a:stretch>
        </p:blipFill>
        <p:spPr>
          <a:xfrm>
            <a:off x="457200" y="4709160"/>
            <a:ext cx="201168" cy="201168"/>
          </a:xfrm>
          <a:prstGeom prst="rect">
            <a:avLst/>
          </a:prstGeom>
        </p:spPr>
      </p:pic>
      <p:sp>
        <p:nvSpPr>
          <p:cNvPr id="3" name="Text 0"/>
          <p:cNvSpPr/>
          <p:nvPr/>
        </p:nvSpPr>
        <p:spPr>
          <a:xfrm>
            <a:off x="713232" y="4700016"/>
            <a:ext cx="2743200" cy="219456"/>
          </a:xfrm>
          <a:prstGeom prst="rect">
            <a:avLst/>
          </a:prstGeom>
          <a:noFill/>
          <a:ln/>
        </p:spPr>
        <p:txBody>
          <a:bodyPr wrap="square" lIns="0" tIns="0" rIns="0" bIns="0" rtlCol="0" anchor="ctr"/>
          <a:lstStyle/>
          <a:p>
            <a:pPr indent="0" marL="0">
              <a:buNone/>
            </a:pPr>
            <a:r>
              <a:rPr lang="en-US" sz="900" dirty="0">
                <a:solidFill>
                  <a:srgbClr val="8A929E"/>
                </a:solidFill>
              </a:rPr>
              <a:t>CampusPulse · Team XL0678</a:t>
            </a:r>
            <a:endParaRPr lang="en-US" sz="900" dirty="0"/>
          </a:p>
        </p:txBody>
      </p:sp>
      <p:sp>
        <p:nvSpPr>
          <p:cNvPr id="4" name="Text 1"/>
          <p:cNvSpPr/>
          <p:nvPr>
            <p:ph idx="102" type="body" hasCustomPrompt="1"/>
          </p:nvPr>
        </p:nvSpPr>
        <p:spPr>
          <a:xfrm>
            <a:off x="457200" y="320040"/>
            <a:ext cx="8229600" cy="256032"/>
          </a:xfrm>
          <a:prstGeom prst="rect">
            <a:avLst/>
          </a:prstGeom>
          <a:noFill/>
          <a:ln/>
        </p:spPr>
        <p:txBody>
          <a:bodyPr wrap="square" rtlCol="0"/>
          <a:lstStyle>
            <a:lvl1pPr indent="0" marL="0">
              <a:buNone/>
              <a:defRPr lang="en-US" sz="1100" b="1" spc="150" kern="0" dirty="0">
                <a:solidFill>
                  <a:schemeClr val="accent1"/>
                </a:solidFill>
              </a:defRPr>
            </a:lvl1pPr>
          </a:lstStyle>
          <a:p>
            <a:pPr indent="0" marL="0">
              <a:buNone/>
            </a:pPr>
            <a:endParaRPr lang="en-US" sz="1100" dirty="0"/>
          </a:p>
        </p:txBody>
      </p:sp>
      <p:sp>
        <p:nvSpPr>
          <p:cNvPr id="5" name="Text 1"/>
          <p:cNvSpPr/>
          <p:nvPr>
            <p:ph idx="103" type="title" hasCustomPrompt="1"/>
          </p:nvPr>
        </p:nvSpPr>
        <p:spPr>
          <a:xfrm>
            <a:off x="457200" y="566928"/>
            <a:ext cx="8229600" cy="566928"/>
          </a:xfrm>
          <a:prstGeom prst="rect">
            <a:avLst/>
          </a:prstGeom>
          <a:noFill/>
          <a:ln/>
        </p:spPr>
        <p:txBody>
          <a:bodyPr wrap="square" rtlCol="0"/>
          <a:lstStyle>
            <a:lvl1pPr algn="l" indent="0" marL="0">
              <a:buNone/>
              <a:defRPr lang="en-US" sz="2600" b="1" dirty="0">
                <a:solidFill>
                  <a:schemeClr val="tx1"/>
                </a:solidFill>
                <a:latin typeface="Arial" pitchFamily="34" charset="0"/>
                <a:ea typeface="Arial" pitchFamily="34" charset="-122"/>
                <a:cs typeface="Arial"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321040" y="4700016"/>
            <a:ext cx="36576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8A929E"/>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00016"/>
            <a:ext cx="36576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8A929E"/>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hyperlink" Target="https://frontend-production-852be.up.railway.app/" TargetMode="External"/><Relationship Id="rId1"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logo.png">    </p:cNvPr>
          <p:cNvPicPr>
            <a:picLocks noChangeAspect="1"/>
          </p:cNvPicPr>
          <p:nvPr/>
        </p:nvPicPr>
        <p:blipFill>
          <a:blip r:embed="rId1"/>
          <a:stretch>
            <a:fillRect/>
          </a:stretch>
        </p:blipFill>
        <p:spPr>
          <a:xfrm>
            <a:off x="548640" y="502920"/>
            <a:ext cx="384048" cy="384048"/>
          </a:xfrm>
          <a:prstGeom prst="rect">
            <a:avLst/>
          </a:prstGeom>
        </p:spPr>
      </p:pic>
      <p:sp>
        <p:nvSpPr>
          <p:cNvPr id="3" name="Brand"/>
          <p:cNvSpPr txBox="1"/>
          <p:nvPr/>
        </p:nvSpPr>
        <p:spPr>
          <a:xfrm>
            <a:off x="1024128" y="502920"/>
            <a:ext cx="2743200" cy="384048"/>
          </a:xfrm>
          <a:prstGeom prst="rect">
            <a:avLst/>
          </a:prstGeom>
          <a:noFill/>
          <a:ln/>
        </p:spPr>
        <p:txBody>
          <a:bodyPr wrap="square" lIns="0" tIns="0" rIns="0" bIns="0" rtlCol="0" anchor="ctr"/>
          <a:lstStyle/>
          <a:p>
            <a:pPr indent="0" marL="0">
              <a:buNone/>
            </a:pPr>
            <a:r>
              <a:rPr lang="en-US" sz="1800" b="1" dirty="0">
                <a:solidFill>
                  <a:schemeClr val="bg1"/>
                </a:solidFill>
                <a:latin typeface="Arial" pitchFamily="34" charset="0"/>
                <a:ea typeface="Arial" pitchFamily="34" charset="-122"/>
                <a:cs typeface="Arial" pitchFamily="34" charset="-120"/>
              </a:rPr>
              <a:t>CampusPulse</a:t>
            </a:r>
            <a:endParaRPr lang="en-US" sz="1800" dirty="0"/>
          </a:p>
        </p:txBody>
      </p:sp>
      <p:sp>
        <p:nvSpPr>
          <p:cNvPr id="4" name="Headline"/>
          <p:cNvSpPr txBox="1"/>
          <p:nvPr/>
        </p:nvSpPr>
        <p:spPr>
          <a:xfrm>
            <a:off x="548640" y="1371600"/>
            <a:ext cx="4572000" cy="1280160"/>
          </a:xfrm>
          <a:prstGeom prst="rect">
            <a:avLst/>
          </a:prstGeom>
          <a:noFill/>
          <a:ln/>
        </p:spPr>
        <p:txBody>
          <a:bodyPr wrap="square" lIns="0" tIns="0" rIns="0" bIns="0" rtlCol="0" anchor="t"/>
          <a:lstStyle/>
          <a:p>
            <a:pPr indent="0" marL="0">
              <a:buNone/>
            </a:pPr>
            <a:r>
              <a:rPr lang="en-US" sz="3400" b="1" dirty="0">
                <a:solidFill>
                  <a:schemeClr val="bg1"/>
                </a:solidFill>
                <a:latin typeface="Arial" pitchFamily="34" charset="0"/>
                <a:ea typeface="Arial" pitchFamily="34" charset="-122"/>
                <a:cs typeface="Arial" pitchFamily="34" charset="-120"/>
              </a:rPr>
              <a:t>See who needs help,</a:t>
            </a:r>
            <a:endParaRPr lang="en-US" sz="3400" dirty="0"/>
          </a:p>
          <a:p>
            <a:pPr indent="0" marL="0">
              <a:buNone/>
            </a:pPr>
            <a:r>
              <a:rPr lang="en-US" sz="3400" b="1" dirty="0">
                <a:solidFill>
                  <a:schemeClr val="accent3"/>
                </a:solidFill>
                <a:latin typeface="Arial" pitchFamily="34" charset="0"/>
                <a:ea typeface="Arial" pitchFamily="34" charset="-122"/>
                <a:cs typeface="Arial" pitchFamily="34" charset="-120"/>
              </a:rPr>
              <a:t>before results day</a:t>
            </a:r>
            <a:endParaRPr lang="en-US" sz="3400" dirty="0"/>
          </a:p>
        </p:txBody>
      </p:sp>
      <p:sp>
        <p:nvSpPr>
          <p:cNvPr id="5" name="Subtitle"/>
          <p:cNvSpPr txBox="1"/>
          <p:nvPr/>
        </p:nvSpPr>
        <p:spPr>
          <a:xfrm>
            <a:off x="548640" y="2834640"/>
            <a:ext cx="4480560" cy="365760"/>
          </a:xfrm>
          <a:prstGeom prst="rect">
            <a:avLst/>
          </a:prstGeom>
          <a:noFill/>
          <a:ln/>
        </p:spPr>
        <p:txBody>
          <a:bodyPr wrap="square" lIns="0" tIns="0" rIns="0" bIns="0" rtlCol="0" anchor="t"/>
          <a:lstStyle/>
          <a:p>
            <a:pPr indent="0" marL="0">
              <a:buNone/>
            </a:pPr>
            <a:r>
              <a:rPr lang="en-US" sz="1600" dirty="0">
                <a:solidFill>
                  <a:srgbClr val="A9B0BC"/>
                </a:solidFill>
              </a:rPr>
              <a:t>An early-warning system for student success</a:t>
            </a:r>
            <a:endParaRPr lang="en-US" sz="1600" dirty="0"/>
          </a:p>
        </p:txBody>
      </p:sp>
      <p:sp>
        <p:nvSpPr>
          <p:cNvPr id="6" name="Team"/>
          <p:cNvSpPr txBox="1"/>
          <p:nvPr/>
        </p:nvSpPr>
        <p:spPr>
          <a:xfrm>
            <a:off x="548640" y="4069080"/>
            <a:ext cx="3657600" cy="502920"/>
          </a:xfrm>
          <a:prstGeom prst="rect">
            <a:avLst/>
          </a:prstGeom>
          <a:noFill/>
          <a:ln/>
        </p:spPr>
        <p:txBody>
          <a:bodyPr wrap="square" lIns="0" tIns="0" rIns="0" bIns="0" rtlCol="0" anchor="t"/>
          <a:lstStyle/>
          <a:p>
            <a:pPr indent="0" marL="0">
              <a:buNone/>
            </a:pPr>
            <a:r>
              <a:rPr lang="en-US" sz="1200" b="1" dirty="0">
                <a:solidFill>
                  <a:schemeClr val="bg1"/>
                </a:solidFill>
              </a:rPr>
              <a:t>Team Cognitive Creators</a:t>
            </a:r>
            <a:endParaRPr lang="en-US" sz="1200" dirty="0"/>
          </a:p>
          <a:p>
            <a:pPr indent="0" marL="0">
              <a:buNone/>
            </a:pPr>
            <a:r>
              <a:rPr lang="en-US" sz="1200" dirty="0">
                <a:solidFill>
                  <a:srgbClr val="A9B0BC"/>
                </a:solidFill>
              </a:rPr>
              <a:t>Team ID XL0678</a:t>
            </a:r>
            <a:endParaRPr lang="en-US" sz="1200" dirty="0"/>
          </a:p>
        </p:txBody>
      </p:sp>
      <p:pic>
        <p:nvPicPr>
          <p:cNvPr id="7" name="Campus field" descr="field-dark.png">    </p:cNvPr>
          <p:cNvPicPr>
            <a:picLocks noChangeAspect="1"/>
          </p:cNvPicPr>
          <p:nvPr/>
        </p:nvPicPr>
        <p:blipFill>
          <a:blip r:embed="rId2"/>
          <a:stretch>
            <a:fillRect/>
          </a:stretch>
        </p:blipFill>
        <p:spPr>
          <a:xfrm>
            <a:off x="5257800" y="1097280"/>
            <a:ext cx="3429000" cy="2146687"/>
          </a:xfrm>
          <a:prstGeom prst="rect">
            <a:avLst/>
          </a:prstGeom>
        </p:spPr>
      </p:pic>
      <p:sp>
        <p:nvSpPr>
          <p:cNvPr id="8" name="Legend dot 1"/>
          <p:cNvSpPr/>
          <p:nvPr/>
        </p:nvSpPr>
        <p:spPr>
          <a:xfrm>
            <a:off x="5257800" y="3499999"/>
            <a:ext cx="109728" cy="109728"/>
          </a:xfrm>
          <a:prstGeom prst="ellipse">
            <a:avLst/>
          </a:prstGeom>
          <a:solidFill>
            <a:srgbClr val="D03B3B"/>
          </a:solidFill>
          <a:ln w="12700">
            <a:solidFill>
              <a:srgbClr val="D03B3B"/>
            </a:solidFill>
            <a:prstDash val="solid"/>
          </a:ln>
        </p:spPr>
      </p:sp>
      <p:sp>
        <p:nvSpPr>
          <p:cNvPr id="9" name="Legend 1"/>
          <p:cNvSpPr txBox="1"/>
          <p:nvPr/>
        </p:nvSpPr>
        <p:spPr>
          <a:xfrm>
            <a:off x="5422392" y="3445135"/>
            <a:ext cx="960120" cy="228600"/>
          </a:xfrm>
          <a:prstGeom prst="rect">
            <a:avLst/>
          </a:prstGeom>
          <a:noFill/>
          <a:ln/>
        </p:spPr>
        <p:txBody>
          <a:bodyPr wrap="square" lIns="0" tIns="0" rIns="0" bIns="0" rtlCol="0" anchor="t"/>
          <a:lstStyle/>
          <a:p>
            <a:pPr indent="0" marL="0">
              <a:buNone/>
            </a:pPr>
            <a:r>
              <a:rPr lang="en-US" sz="1000" dirty="0">
                <a:solidFill>
                  <a:srgbClr val="A9B0BC"/>
                </a:solidFill>
              </a:rPr>
              <a:t>381 high risk</a:t>
            </a:r>
            <a:endParaRPr lang="en-US" sz="1000" dirty="0"/>
          </a:p>
        </p:txBody>
      </p:sp>
      <p:sp>
        <p:nvSpPr>
          <p:cNvPr id="10" name="Legend dot 2"/>
          <p:cNvSpPr/>
          <p:nvPr/>
        </p:nvSpPr>
        <p:spPr>
          <a:xfrm>
            <a:off x="6400800" y="3499999"/>
            <a:ext cx="109728" cy="109728"/>
          </a:xfrm>
          <a:prstGeom prst="ellipse">
            <a:avLst/>
          </a:prstGeom>
          <a:solidFill>
            <a:srgbClr val="FAB219"/>
          </a:solidFill>
          <a:ln w="12700">
            <a:solidFill>
              <a:srgbClr val="FAB219"/>
            </a:solidFill>
            <a:prstDash val="solid"/>
          </a:ln>
        </p:spPr>
      </p:sp>
      <p:sp>
        <p:nvSpPr>
          <p:cNvPr id="11" name="Legend 2"/>
          <p:cNvSpPr txBox="1"/>
          <p:nvPr/>
        </p:nvSpPr>
        <p:spPr>
          <a:xfrm>
            <a:off x="6565392" y="3445135"/>
            <a:ext cx="960120" cy="228600"/>
          </a:xfrm>
          <a:prstGeom prst="rect">
            <a:avLst/>
          </a:prstGeom>
          <a:noFill/>
          <a:ln/>
        </p:spPr>
        <p:txBody>
          <a:bodyPr wrap="square" lIns="0" tIns="0" rIns="0" bIns="0" rtlCol="0" anchor="t"/>
          <a:lstStyle/>
          <a:p>
            <a:pPr indent="0" marL="0">
              <a:buNone/>
            </a:pPr>
            <a:r>
              <a:rPr lang="en-US" sz="1000" dirty="0">
                <a:solidFill>
                  <a:srgbClr val="A9B0BC"/>
                </a:solidFill>
              </a:rPr>
              <a:t>301 medium</a:t>
            </a:r>
            <a:endParaRPr lang="en-US" sz="1000" dirty="0"/>
          </a:p>
        </p:txBody>
      </p:sp>
      <p:sp>
        <p:nvSpPr>
          <p:cNvPr id="12" name="Legend dot 3"/>
          <p:cNvSpPr/>
          <p:nvPr/>
        </p:nvSpPr>
        <p:spPr>
          <a:xfrm>
            <a:off x="7543800" y="3499999"/>
            <a:ext cx="109728" cy="109728"/>
          </a:xfrm>
          <a:prstGeom prst="ellipse">
            <a:avLst/>
          </a:prstGeom>
          <a:solidFill>
            <a:srgbClr val="3A3F4A"/>
          </a:solidFill>
          <a:ln w="12700">
            <a:solidFill>
              <a:srgbClr val="3A3F4A"/>
            </a:solidFill>
            <a:prstDash val="solid"/>
          </a:ln>
        </p:spPr>
      </p:sp>
      <p:sp>
        <p:nvSpPr>
          <p:cNvPr id="13" name="Legend 3"/>
          <p:cNvSpPr txBox="1"/>
          <p:nvPr/>
        </p:nvSpPr>
        <p:spPr>
          <a:xfrm>
            <a:off x="7708392" y="3445135"/>
            <a:ext cx="960120" cy="228600"/>
          </a:xfrm>
          <a:prstGeom prst="rect">
            <a:avLst/>
          </a:prstGeom>
          <a:noFill/>
          <a:ln/>
        </p:spPr>
        <p:txBody>
          <a:bodyPr wrap="square" lIns="0" tIns="0" rIns="0" bIns="0" rtlCol="0" anchor="t"/>
          <a:lstStyle/>
          <a:p>
            <a:pPr indent="0" marL="0">
              <a:buNone/>
            </a:pPr>
            <a:r>
              <a:rPr lang="en-US" sz="1000" dirty="0">
                <a:solidFill>
                  <a:srgbClr val="A9B0BC"/>
                </a:solidFill>
              </a:rPr>
              <a:t>318 on track</a:t>
            </a:r>
            <a:endParaRPr lang="en-US" sz="1000" dirty="0"/>
          </a:p>
        </p:txBody>
      </p:sp>
      <p:sp>
        <p:nvSpPr>
          <p:cNvPr id="14" name="Field caption"/>
          <p:cNvSpPr txBox="1"/>
          <p:nvPr/>
        </p:nvSpPr>
        <p:spPr>
          <a:xfrm>
            <a:off x="5257800" y="3737743"/>
            <a:ext cx="3429000" cy="228600"/>
          </a:xfrm>
          <a:prstGeom prst="rect">
            <a:avLst/>
          </a:prstGeom>
          <a:noFill/>
          <a:ln/>
        </p:spPr>
        <p:txBody>
          <a:bodyPr wrap="square" lIns="0" tIns="0" rIns="0" bIns="0" rtlCol="0" anchor="t"/>
          <a:lstStyle/>
          <a:p>
            <a:pPr indent="0" marL="0">
              <a:buNone/>
            </a:pPr>
            <a:r>
              <a:rPr lang="en-US" sz="1000" i="1" dirty="0">
                <a:solidFill>
                  <a:srgbClr val="7A828F"/>
                </a:solidFill>
              </a:rPr>
              <a:t>Every dot is a real student from the 1,000-record dataset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457200" y="320040"/>
            <a:ext cx="8229600" cy="256032"/>
          </a:xfrm>
          <a:prstGeom prst="rect">
            <a:avLst/>
          </a:prstGeom>
          <a:noFill/>
          <a:ln/>
        </p:spPr>
        <p:txBody>
          <a:bodyPr wrap="square" lIns="0" tIns="0" rIns="0" bIns="0" rtlCol="0" anchor="t"/>
          <a:lstStyle/>
          <a:p>
            <a:pPr indent="0" marL="0">
              <a:buNone/>
            </a:pPr>
            <a:r>
              <a:rPr lang="en-US" sz="1100" b="1" spc="150" kern="0" dirty="0">
                <a:solidFill>
                  <a:schemeClr val="accent1"/>
                </a:solidFill>
              </a:rPr>
              <a:t>THE VISIBILITY GAP</a:t>
            </a:r>
            <a:endParaRPr lang="en-US" sz="1100" dirty="0"/>
          </a:p>
        </p:txBody>
      </p:sp>
      <p:sp>
        <p:nvSpPr>
          <p:cNvPr id="3" name="Text 1"/>
          <p:cNvSpPr/>
          <p:nvPr>
            <p:ph idx="103" type="title" hasCustomPrompt="1"/>
          </p:nvPr>
        </p:nvSpPr>
        <p:spPr>
          <a:xfrm>
            <a:off x="457200" y="566928"/>
            <a:ext cx="8229600" cy="566928"/>
          </a:xfrm>
          <a:prstGeom prst="rect">
            <a:avLst/>
          </a:prstGeom>
          <a:noFill/>
          <a:ln/>
        </p:spPr>
        <p:txBody>
          <a:bodyPr wrap="square" lIns="0" tIns="0" rIns="0" bIns="0" rtlCol="0" anchor="t"/>
          <a:lstStyle/>
          <a:p>
            <a:pPr algn="l" indent="0" marL="0">
              <a:buNone/>
            </a:pPr>
            <a:r>
              <a:rPr lang="en-US" sz="2600" b="1" dirty="0">
                <a:solidFill>
                  <a:schemeClr val="tx1"/>
                </a:solidFill>
                <a:latin typeface="Arial" pitchFamily="34" charset="0"/>
                <a:ea typeface="Arial" pitchFamily="34" charset="-122"/>
                <a:cs typeface="Arial" pitchFamily="34" charset="-120"/>
              </a:rPr>
              <a:t>Faculty see failure only after results are out</a:t>
            </a:r>
            <a:endParaRPr lang="en-US" sz="2600" dirty="0"/>
          </a:p>
        </p:txBody>
      </p:sp>
      <p:sp>
        <p:nvSpPr>
          <p:cNvPr id="4" name="Text 2"/>
          <p:cNvSpPr txBox="1"/>
          <p:nvPr/>
        </p:nvSpPr>
        <p:spPr>
          <a:xfrm>
            <a:off x="457200" y="1417320"/>
            <a:ext cx="4754880" cy="274320"/>
          </a:xfrm>
          <a:prstGeom prst="rect">
            <a:avLst/>
          </a:prstGeom>
          <a:noFill/>
          <a:ln/>
        </p:spPr>
        <p:txBody>
          <a:bodyPr wrap="square" lIns="0" tIns="0" rIns="0" bIns="0" rtlCol="0" anchor="t"/>
          <a:lstStyle/>
          <a:p>
            <a:pPr indent="0" marL="0">
              <a:buNone/>
            </a:pPr>
            <a:r>
              <a:rPr lang="en-US" sz="1400" b="1" dirty="0">
                <a:solidFill>
                  <a:schemeClr val="tx1"/>
                </a:solidFill>
              </a:rPr>
              <a:t>Student data lives in 7 disconnected systems</a:t>
            </a:r>
            <a:endParaRPr lang="en-US" sz="1400" dirty="0"/>
          </a:p>
        </p:txBody>
      </p:sp>
      <p:sp>
        <p:nvSpPr>
          <p:cNvPr id="5" name="Silo 1"/>
          <p:cNvSpPr/>
          <p:nvPr/>
        </p:nvSpPr>
        <p:spPr>
          <a:xfrm>
            <a:off x="457200" y="1810512"/>
            <a:ext cx="1097280" cy="347472"/>
          </a:xfrm>
          <a:prstGeom prst="roundRect">
            <a:avLst>
              <a:gd name="adj" fmla="val 21053"/>
            </a:avLst>
          </a:prstGeom>
          <a:solidFill>
            <a:schemeClr val="bg2"/>
          </a:solidFill>
          <a:ln w="9525">
            <a:solidFill>
              <a:srgbClr val="E2E5EA"/>
            </a:solidFill>
            <a:prstDash val="solid"/>
          </a:ln>
        </p:spPr>
      </p:sp>
      <p:sp>
        <p:nvSpPr>
          <p:cNvPr id="6" name="Text 4"/>
          <p:cNvSpPr txBox="1"/>
          <p:nvPr/>
        </p:nvSpPr>
        <p:spPr>
          <a:xfrm>
            <a:off x="457200" y="1810512"/>
            <a:ext cx="1097280" cy="347472"/>
          </a:xfrm>
          <a:prstGeom prst="rect">
            <a:avLst/>
          </a:prstGeom>
          <a:noFill/>
          <a:ln/>
        </p:spPr>
        <p:txBody>
          <a:bodyPr wrap="square" lIns="0" tIns="0" rIns="0" bIns="0" rtlCol="0" anchor="ctr"/>
          <a:lstStyle/>
          <a:p>
            <a:pPr algn="ctr" indent="0" marL="0">
              <a:buNone/>
            </a:pPr>
            <a:r>
              <a:rPr lang="en-US" sz="1100" dirty="0">
                <a:solidFill>
                  <a:schemeClr val="tx1"/>
                </a:solidFill>
              </a:rPr>
              <a:t>Academics</a:t>
            </a:r>
            <a:endParaRPr lang="en-US" sz="1100" dirty="0"/>
          </a:p>
        </p:txBody>
      </p:sp>
      <p:sp>
        <p:nvSpPr>
          <p:cNvPr id="7" name="Silo 2"/>
          <p:cNvSpPr/>
          <p:nvPr/>
        </p:nvSpPr>
        <p:spPr>
          <a:xfrm>
            <a:off x="1664208" y="1810512"/>
            <a:ext cx="1097280" cy="347472"/>
          </a:xfrm>
          <a:prstGeom prst="roundRect">
            <a:avLst>
              <a:gd name="adj" fmla="val 21053"/>
            </a:avLst>
          </a:prstGeom>
          <a:solidFill>
            <a:schemeClr val="bg2"/>
          </a:solidFill>
          <a:ln w="9525">
            <a:solidFill>
              <a:srgbClr val="E2E5EA"/>
            </a:solidFill>
            <a:prstDash val="solid"/>
          </a:ln>
        </p:spPr>
      </p:sp>
      <p:sp>
        <p:nvSpPr>
          <p:cNvPr id="8" name="Text 6"/>
          <p:cNvSpPr txBox="1"/>
          <p:nvPr/>
        </p:nvSpPr>
        <p:spPr>
          <a:xfrm>
            <a:off x="1664208" y="1810512"/>
            <a:ext cx="1097280" cy="347472"/>
          </a:xfrm>
          <a:prstGeom prst="rect">
            <a:avLst/>
          </a:prstGeom>
          <a:noFill/>
          <a:ln/>
        </p:spPr>
        <p:txBody>
          <a:bodyPr wrap="square" lIns="0" tIns="0" rIns="0" bIns="0" rtlCol="0" anchor="ctr"/>
          <a:lstStyle/>
          <a:p>
            <a:pPr algn="ctr" indent="0" marL="0">
              <a:buNone/>
            </a:pPr>
            <a:r>
              <a:rPr lang="en-US" sz="1100" dirty="0">
                <a:solidFill>
                  <a:schemeClr val="tx1"/>
                </a:solidFill>
              </a:rPr>
              <a:t>Attendance</a:t>
            </a:r>
            <a:endParaRPr lang="en-US" sz="1100" dirty="0"/>
          </a:p>
        </p:txBody>
      </p:sp>
      <p:sp>
        <p:nvSpPr>
          <p:cNvPr id="9" name="Silo 3"/>
          <p:cNvSpPr/>
          <p:nvPr/>
        </p:nvSpPr>
        <p:spPr>
          <a:xfrm>
            <a:off x="2871216" y="1810512"/>
            <a:ext cx="1097280" cy="347472"/>
          </a:xfrm>
          <a:prstGeom prst="roundRect">
            <a:avLst>
              <a:gd name="adj" fmla="val 21053"/>
            </a:avLst>
          </a:prstGeom>
          <a:solidFill>
            <a:schemeClr val="bg2"/>
          </a:solidFill>
          <a:ln w="9525">
            <a:solidFill>
              <a:srgbClr val="E2E5EA"/>
            </a:solidFill>
            <a:prstDash val="solid"/>
          </a:ln>
        </p:spPr>
      </p:sp>
      <p:sp>
        <p:nvSpPr>
          <p:cNvPr id="10" name="Text 8"/>
          <p:cNvSpPr txBox="1"/>
          <p:nvPr/>
        </p:nvSpPr>
        <p:spPr>
          <a:xfrm>
            <a:off x="2871216" y="1810512"/>
            <a:ext cx="1097280" cy="347472"/>
          </a:xfrm>
          <a:prstGeom prst="rect">
            <a:avLst/>
          </a:prstGeom>
          <a:noFill/>
          <a:ln/>
        </p:spPr>
        <p:txBody>
          <a:bodyPr wrap="square" lIns="0" tIns="0" rIns="0" bIns="0" rtlCol="0" anchor="ctr"/>
          <a:lstStyle/>
          <a:p>
            <a:pPr algn="ctr" indent="0" marL="0">
              <a:buNone/>
            </a:pPr>
            <a:r>
              <a:rPr lang="en-US" sz="1100" dirty="0">
                <a:solidFill>
                  <a:schemeClr val="tx1"/>
                </a:solidFill>
              </a:rPr>
              <a:t>LMS</a:t>
            </a:r>
            <a:endParaRPr lang="en-US" sz="1100" dirty="0"/>
          </a:p>
        </p:txBody>
      </p:sp>
      <p:sp>
        <p:nvSpPr>
          <p:cNvPr id="11" name="Silo 4"/>
          <p:cNvSpPr/>
          <p:nvPr/>
        </p:nvSpPr>
        <p:spPr>
          <a:xfrm>
            <a:off x="4078224" y="1810512"/>
            <a:ext cx="1097280" cy="347472"/>
          </a:xfrm>
          <a:prstGeom prst="roundRect">
            <a:avLst>
              <a:gd name="adj" fmla="val 21053"/>
            </a:avLst>
          </a:prstGeom>
          <a:solidFill>
            <a:schemeClr val="bg2"/>
          </a:solidFill>
          <a:ln w="9525">
            <a:solidFill>
              <a:srgbClr val="E2E5EA"/>
            </a:solidFill>
            <a:prstDash val="solid"/>
          </a:ln>
        </p:spPr>
      </p:sp>
      <p:sp>
        <p:nvSpPr>
          <p:cNvPr id="12" name="Text 10"/>
          <p:cNvSpPr txBox="1"/>
          <p:nvPr/>
        </p:nvSpPr>
        <p:spPr>
          <a:xfrm>
            <a:off x="4078224" y="1810512"/>
            <a:ext cx="1097280" cy="347472"/>
          </a:xfrm>
          <a:prstGeom prst="rect">
            <a:avLst/>
          </a:prstGeom>
          <a:noFill/>
          <a:ln/>
        </p:spPr>
        <p:txBody>
          <a:bodyPr wrap="square" lIns="0" tIns="0" rIns="0" bIns="0" rtlCol="0" anchor="ctr"/>
          <a:lstStyle/>
          <a:p>
            <a:pPr algn="ctr" indent="0" marL="0">
              <a:buNone/>
            </a:pPr>
            <a:r>
              <a:rPr lang="en-US" sz="1100" dirty="0">
                <a:solidFill>
                  <a:schemeClr val="tx1"/>
                </a:solidFill>
              </a:rPr>
              <a:t>Placement tests</a:t>
            </a:r>
            <a:endParaRPr lang="en-US" sz="1100" dirty="0"/>
          </a:p>
        </p:txBody>
      </p:sp>
      <p:sp>
        <p:nvSpPr>
          <p:cNvPr id="13" name="Silo 5"/>
          <p:cNvSpPr/>
          <p:nvPr/>
        </p:nvSpPr>
        <p:spPr>
          <a:xfrm>
            <a:off x="457200" y="2267712"/>
            <a:ext cx="1097280" cy="347472"/>
          </a:xfrm>
          <a:prstGeom prst="roundRect">
            <a:avLst>
              <a:gd name="adj" fmla="val 21053"/>
            </a:avLst>
          </a:prstGeom>
          <a:solidFill>
            <a:schemeClr val="bg2"/>
          </a:solidFill>
          <a:ln w="9525">
            <a:solidFill>
              <a:srgbClr val="E2E5EA"/>
            </a:solidFill>
            <a:prstDash val="solid"/>
          </a:ln>
        </p:spPr>
      </p:sp>
      <p:sp>
        <p:nvSpPr>
          <p:cNvPr id="14" name="Text 12"/>
          <p:cNvSpPr txBox="1"/>
          <p:nvPr/>
        </p:nvSpPr>
        <p:spPr>
          <a:xfrm>
            <a:off x="457200" y="2267712"/>
            <a:ext cx="1097280" cy="347472"/>
          </a:xfrm>
          <a:prstGeom prst="rect">
            <a:avLst/>
          </a:prstGeom>
          <a:noFill/>
          <a:ln/>
        </p:spPr>
        <p:txBody>
          <a:bodyPr wrap="square" lIns="0" tIns="0" rIns="0" bIns="0" rtlCol="0" anchor="ctr"/>
          <a:lstStyle/>
          <a:p>
            <a:pPr algn="ctr" indent="0" marL="0">
              <a:buNone/>
            </a:pPr>
            <a:r>
              <a:rPr lang="en-US" sz="1100" dirty="0">
                <a:solidFill>
                  <a:schemeClr val="tx1"/>
                </a:solidFill>
              </a:rPr>
              <a:t>Skills</a:t>
            </a:r>
            <a:endParaRPr lang="en-US" sz="1100" dirty="0"/>
          </a:p>
        </p:txBody>
      </p:sp>
      <p:sp>
        <p:nvSpPr>
          <p:cNvPr id="15" name="Silo 6"/>
          <p:cNvSpPr/>
          <p:nvPr/>
        </p:nvSpPr>
        <p:spPr>
          <a:xfrm>
            <a:off x="1664208" y="2267712"/>
            <a:ext cx="1097280" cy="347472"/>
          </a:xfrm>
          <a:prstGeom prst="roundRect">
            <a:avLst>
              <a:gd name="adj" fmla="val 21053"/>
            </a:avLst>
          </a:prstGeom>
          <a:solidFill>
            <a:schemeClr val="bg2"/>
          </a:solidFill>
          <a:ln w="9525">
            <a:solidFill>
              <a:srgbClr val="E2E5EA"/>
            </a:solidFill>
            <a:prstDash val="solid"/>
          </a:ln>
        </p:spPr>
      </p:sp>
      <p:sp>
        <p:nvSpPr>
          <p:cNvPr id="16" name="Text 14"/>
          <p:cNvSpPr txBox="1"/>
          <p:nvPr/>
        </p:nvSpPr>
        <p:spPr>
          <a:xfrm>
            <a:off x="1664208" y="2267712"/>
            <a:ext cx="1097280" cy="347472"/>
          </a:xfrm>
          <a:prstGeom prst="rect">
            <a:avLst/>
          </a:prstGeom>
          <a:noFill/>
          <a:ln/>
        </p:spPr>
        <p:txBody>
          <a:bodyPr wrap="square" lIns="0" tIns="0" rIns="0" bIns="0" rtlCol="0" anchor="ctr"/>
          <a:lstStyle/>
          <a:p>
            <a:pPr algn="ctr" indent="0" marL="0">
              <a:buNone/>
            </a:pPr>
            <a:r>
              <a:rPr lang="en-US" sz="1100" dirty="0">
                <a:solidFill>
                  <a:schemeClr val="tx1"/>
                </a:solidFill>
              </a:rPr>
              <a:t>Clubs &amp; events</a:t>
            </a:r>
            <a:endParaRPr lang="en-US" sz="1100" dirty="0"/>
          </a:p>
        </p:txBody>
      </p:sp>
      <p:sp>
        <p:nvSpPr>
          <p:cNvPr id="17" name="Silo 7"/>
          <p:cNvSpPr/>
          <p:nvPr/>
        </p:nvSpPr>
        <p:spPr>
          <a:xfrm>
            <a:off x="2871216" y="2267712"/>
            <a:ext cx="1097280" cy="347472"/>
          </a:xfrm>
          <a:prstGeom prst="roundRect">
            <a:avLst>
              <a:gd name="adj" fmla="val 21053"/>
            </a:avLst>
          </a:prstGeom>
          <a:solidFill>
            <a:schemeClr val="bg2"/>
          </a:solidFill>
          <a:ln w="9525">
            <a:solidFill>
              <a:srgbClr val="E2E5EA"/>
            </a:solidFill>
            <a:prstDash val="solid"/>
          </a:ln>
        </p:spPr>
      </p:sp>
      <p:sp>
        <p:nvSpPr>
          <p:cNvPr id="18" name="Text 16"/>
          <p:cNvSpPr txBox="1"/>
          <p:nvPr/>
        </p:nvSpPr>
        <p:spPr>
          <a:xfrm>
            <a:off x="2871216" y="2267712"/>
            <a:ext cx="1097280" cy="347472"/>
          </a:xfrm>
          <a:prstGeom prst="rect">
            <a:avLst/>
          </a:prstGeom>
          <a:noFill/>
          <a:ln/>
        </p:spPr>
        <p:txBody>
          <a:bodyPr wrap="square" lIns="0" tIns="0" rIns="0" bIns="0" rtlCol="0" anchor="ctr"/>
          <a:lstStyle/>
          <a:p>
            <a:pPr algn="ctr" indent="0" marL="0">
              <a:buNone/>
            </a:pPr>
            <a:r>
              <a:rPr lang="en-US" sz="1100" dirty="0">
                <a:solidFill>
                  <a:schemeClr val="tx1"/>
                </a:solidFill>
              </a:rPr>
              <a:t>Feedback</a:t>
            </a:r>
            <a:endParaRPr lang="en-US" sz="1100" dirty="0"/>
          </a:p>
        </p:txBody>
      </p:sp>
      <p:sp>
        <p:nvSpPr>
          <p:cNvPr id="19" name="Problem points"/>
          <p:cNvSpPr txBox="1"/>
          <p:nvPr/>
        </p:nvSpPr>
        <p:spPr>
          <a:xfrm>
            <a:off x="457200" y="2926080"/>
            <a:ext cx="4754880" cy="1371600"/>
          </a:xfrm>
          <a:prstGeom prst="rect">
            <a:avLst/>
          </a:prstGeom>
          <a:noFill/>
          <a:ln/>
        </p:spPr>
        <p:txBody>
          <a:bodyPr wrap="square" lIns="0" tIns="0" rIns="0" bIns="0" rtlCol="0" anchor="t"/>
          <a:lstStyle/>
          <a:p>
            <a:pPr indent="0" marL="0">
              <a:buNone/>
            </a:pPr>
            <a:r>
              <a:rPr lang="en-US" sz="1400" b="1" dirty="0">
                <a:solidFill>
                  <a:schemeClr val="tx1"/>
                </a:solidFill>
              </a:rPr>
              <a:t>Late detection. </a:t>
            </a:r>
            <a:pPr indent="0" marL="0">
              <a:buNone/>
            </a:pPr>
            <a:r>
              <a:rPr lang="en-US" sz="1400" dirty="0">
                <a:solidFill>
                  <a:srgbClr val="5B6472"/>
                </a:solidFill>
              </a:rPr>
              <a:t>Struggling students surface only when final grades arrive, too late to course-correct.</a:t>
            </a:r>
            <a:endParaRPr lang="en-US" sz="1400" dirty="0"/>
          </a:p>
          <a:p>
            <a:pPr indent="0" marL="0">
              <a:buNone/>
            </a:pPr>
            <a:r>
              <a:rPr lang="en-US" sz="600" dirty="0">
                <a:solidFill>
                  <a:srgbClr val="000000"/>
                </a:solidFill>
              </a:rPr>
              <a:t> </a:t>
            </a:r>
            <a:endParaRPr lang="en-US" sz="1400" dirty="0"/>
          </a:p>
          <a:p>
            <a:pPr indent="0" marL="0">
              <a:buNone/>
            </a:pPr>
            <a:r>
              <a:rPr lang="en-US" sz="1400" b="1" dirty="0">
                <a:solidFill>
                  <a:schemeClr val="tx1"/>
                </a:solidFill>
              </a:rPr>
              <a:t>False safety. </a:t>
            </a:r>
            <a:pPr indent="0" marL="0">
              <a:buNone/>
            </a:pPr>
            <a:r>
              <a:rPr lang="en-US" sz="1400" dirty="0">
                <a:solidFill>
                  <a:srgbClr val="5B6472"/>
                </a:solidFill>
              </a:rPr>
              <a:t>A topper can look fine on paper and still be unready for placement drives.</a:t>
            </a:r>
            <a:endParaRPr lang="en-US" sz="1400" dirty="0"/>
          </a:p>
        </p:txBody>
      </p:sp>
      <p:sp>
        <p:nvSpPr>
          <p:cNvPr id="20" name="Stat card"/>
          <p:cNvSpPr/>
          <p:nvPr/>
        </p:nvSpPr>
        <p:spPr>
          <a:xfrm>
            <a:off x="5669280" y="1417320"/>
            <a:ext cx="3017520" cy="2926080"/>
          </a:xfrm>
          <a:prstGeom prst="roundRect">
            <a:avLst>
              <a:gd name="adj" fmla="val 4688"/>
            </a:avLst>
          </a:prstGeom>
          <a:solidFill>
            <a:schemeClr val="tx1"/>
          </a:solidFill>
          <a:ln w="12700">
            <a:solidFill>
              <a:srgbClr val="0D1117"/>
            </a:solidFill>
            <a:prstDash val="solid"/>
          </a:ln>
        </p:spPr>
      </p:sp>
      <p:sp>
        <p:nvSpPr>
          <p:cNvPr id="21" name="Text 19"/>
          <p:cNvSpPr txBox="1"/>
          <p:nvPr/>
        </p:nvSpPr>
        <p:spPr>
          <a:xfrm>
            <a:off x="5943600" y="1691640"/>
            <a:ext cx="2560320" cy="685800"/>
          </a:xfrm>
          <a:prstGeom prst="rect">
            <a:avLst/>
          </a:prstGeom>
          <a:noFill/>
          <a:ln/>
        </p:spPr>
        <p:txBody>
          <a:bodyPr wrap="square" lIns="0" tIns="0" rIns="0" bIns="0" rtlCol="0" anchor="t"/>
          <a:lstStyle/>
          <a:p>
            <a:pPr indent="0" marL="0">
              <a:buNone/>
            </a:pPr>
            <a:r>
              <a:rPr lang="en-US" sz="4000" b="1" dirty="0">
                <a:solidFill>
                  <a:schemeClr val="accent3"/>
                </a:solidFill>
                <a:latin typeface="Arial" pitchFamily="34" charset="0"/>
                <a:ea typeface="Arial" pitchFamily="34" charset="-122"/>
                <a:cs typeface="Arial" pitchFamily="34" charset="-120"/>
              </a:rPr>
              <a:t>187 of 232</a:t>
            </a:r>
            <a:endParaRPr lang="en-US" sz="4000" dirty="0"/>
          </a:p>
        </p:txBody>
      </p:sp>
      <p:sp>
        <p:nvSpPr>
          <p:cNvPr id="22" name="Text 20"/>
          <p:cNvSpPr txBox="1"/>
          <p:nvPr/>
        </p:nvSpPr>
        <p:spPr>
          <a:xfrm>
            <a:off x="5943600" y="2468880"/>
            <a:ext cx="2514600" cy="822960"/>
          </a:xfrm>
          <a:prstGeom prst="rect">
            <a:avLst/>
          </a:prstGeom>
          <a:noFill/>
          <a:ln/>
        </p:spPr>
        <p:txBody>
          <a:bodyPr wrap="square" lIns="0" tIns="0" rIns="0" bIns="0" rtlCol="0" anchor="t"/>
          <a:lstStyle/>
          <a:p>
            <a:pPr indent="0" marL="0">
              <a:buNone/>
            </a:pPr>
            <a:r>
              <a:rPr lang="en-US" sz="1500" dirty="0">
                <a:solidFill>
                  <a:schemeClr val="bg1"/>
                </a:solidFill>
              </a:rPr>
              <a:t>high academic-risk students never asked for academic support</a:t>
            </a:r>
            <a:endParaRPr lang="en-US" sz="1500" dirty="0"/>
          </a:p>
        </p:txBody>
      </p:sp>
      <p:sp>
        <p:nvSpPr>
          <p:cNvPr id="23" name="Text 21"/>
          <p:cNvSpPr txBox="1"/>
          <p:nvPr/>
        </p:nvSpPr>
        <p:spPr>
          <a:xfrm>
            <a:off x="5943600" y="3520440"/>
            <a:ext cx="2514600" cy="548640"/>
          </a:xfrm>
          <a:prstGeom prst="rect">
            <a:avLst/>
          </a:prstGeom>
          <a:noFill/>
          <a:ln/>
        </p:spPr>
        <p:txBody>
          <a:bodyPr wrap="square" lIns="0" tIns="0" rIns="0" bIns="0" rtlCol="0" anchor="t"/>
          <a:lstStyle/>
          <a:p>
            <a:pPr indent="0" marL="0">
              <a:buNone/>
            </a:pPr>
            <a:r>
              <a:rPr lang="en-US" sz="1200" i="1" dirty="0">
                <a:solidFill>
                  <a:srgbClr val="A9B0BC"/>
                </a:solidFill>
              </a:rPr>
              <a:t>Waiting for students to ask misses most of them.</a:t>
            </a:r>
            <a:endParaRPr lang="en-US" sz="1200" dirty="0"/>
          </a:p>
        </p:txBody>
      </p:sp>
      <p:sp>
        <p:nvSpPr>
          <p:cNvPr id="25" name="Slide Number Placeholder 0"/>
          <p:cNvSpPr>
            <a:spLocks noGrp="1"/>
          </p:cNvSpPr>
          <p:nvPr>
            <p:ph type="sldNum" sz="quarter" idx="4294967295"/>
          </p:nvPr>
        </p:nvSpPr>
        <p:spPr>
          <a:xfrm>
            <a:off x="8321040" y="4700016"/>
            <a:ext cx="36576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8A929E"/>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457200" y="320040"/>
            <a:ext cx="8229600" cy="256032"/>
          </a:xfrm>
          <a:prstGeom prst="rect">
            <a:avLst/>
          </a:prstGeom>
          <a:noFill/>
          <a:ln/>
        </p:spPr>
        <p:txBody>
          <a:bodyPr wrap="square" lIns="0" tIns="0" rIns="0" bIns="0" rtlCol="0" anchor="t"/>
          <a:lstStyle/>
          <a:p>
            <a:pPr indent="0" marL="0">
              <a:buNone/>
            </a:pPr>
            <a:r>
              <a:rPr lang="en-US" sz="1100" b="1" spc="150" kern="0" dirty="0">
                <a:solidFill>
                  <a:schemeClr val="accent1"/>
                </a:solidFill>
              </a:rPr>
              <a:t>THE SOLUTION</a:t>
            </a:r>
            <a:endParaRPr lang="en-US" sz="1100" dirty="0"/>
          </a:p>
        </p:txBody>
      </p:sp>
      <p:sp>
        <p:nvSpPr>
          <p:cNvPr id="3" name="Text 1"/>
          <p:cNvSpPr/>
          <p:nvPr>
            <p:ph idx="103" type="title" hasCustomPrompt="1"/>
          </p:nvPr>
        </p:nvSpPr>
        <p:spPr>
          <a:xfrm>
            <a:off x="457200" y="566928"/>
            <a:ext cx="8229600" cy="566928"/>
          </a:xfrm>
          <a:prstGeom prst="rect">
            <a:avLst/>
          </a:prstGeom>
          <a:noFill/>
          <a:ln/>
        </p:spPr>
        <p:txBody>
          <a:bodyPr wrap="square" lIns="0" tIns="0" rIns="0" bIns="0" rtlCol="0" anchor="t"/>
          <a:lstStyle/>
          <a:p>
            <a:pPr algn="l" indent="0" marL="0">
              <a:buNone/>
            </a:pPr>
            <a:r>
              <a:rPr lang="en-US" sz="2600" b="1" dirty="0">
                <a:solidFill>
                  <a:schemeClr val="tx1"/>
                </a:solidFill>
                <a:latin typeface="Arial" pitchFamily="34" charset="0"/>
                <a:ea typeface="Arial" pitchFamily="34" charset="-122"/>
                <a:cs typeface="Arial" pitchFamily="34" charset="-120"/>
              </a:rPr>
              <a:t>One score, two risk tracks, a reason for every flag</a:t>
            </a:r>
            <a:endParaRPr lang="en-US" sz="2600" dirty="0"/>
          </a:p>
        </p:txBody>
      </p:sp>
      <p:sp>
        <p:nvSpPr>
          <p:cNvPr id="4" name="Card 1"/>
          <p:cNvSpPr/>
          <p:nvPr/>
        </p:nvSpPr>
        <p:spPr>
          <a:xfrm>
            <a:off x="457200" y="1417320"/>
            <a:ext cx="2606040" cy="2926080"/>
          </a:xfrm>
          <a:prstGeom prst="roundRect">
            <a:avLst>
              <a:gd name="adj" fmla="val 4211"/>
            </a:avLst>
          </a:prstGeom>
          <a:solidFill>
            <a:schemeClr val="bg2"/>
          </a:solidFill>
          <a:ln w="12700">
            <a:solidFill>
              <a:srgbClr val="F3F4F6"/>
            </a:solidFill>
            <a:prstDash val="solid"/>
          </a:ln>
        </p:spPr>
      </p:sp>
      <p:sp>
        <p:nvSpPr>
          <p:cNvPr id="5" name="Card 2"/>
          <p:cNvSpPr/>
          <p:nvPr/>
        </p:nvSpPr>
        <p:spPr>
          <a:xfrm>
            <a:off x="3268980" y="1417320"/>
            <a:ext cx="2606040" cy="2926080"/>
          </a:xfrm>
          <a:prstGeom prst="roundRect">
            <a:avLst>
              <a:gd name="adj" fmla="val 4211"/>
            </a:avLst>
          </a:prstGeom>
          <a:solidFill>
            <a:schemeClr val="bg2"/>
          </a:solidFill>
          <a:ln w="12700">
            <a:solidFill>
              <a:srgbClr val="F3F4F6"/>
            </a:solidFill>
            <a:prstDash val="solid"/>
          </a:ln>
        </p:spPr>
      </p:sp>
      <p:sp>
        <p:nvSpPr>
          <p:cNvPr id="6" name="Card 3"/>
          <p:cNvSpPr/>
          <p:nvPr/>
        </p:nvSpPr>
        <p:spPr>
          <a:xfrm>
            <a:off x="6080760" y="1417320"/>
            <a:ext cx="2606040" cy="2926080"/>
          </a:xfrm>
          <a:prstGeom prst="roundRect">
            <a:avLst>
              <a:gd name="adj" fmla="val 4211"/>
            </a:avLst>
          </a:prstGeom>
          <a:solidFill>
            <a:schemeClr val="bg2"/>
          </a:solidFill>
          <a:ln w="12700">
            <a:solidFill>
              <a:srgbClr val="F3F4F6"/>
            </a:solidFill>
            <a:prstDash val="solid"/>
          </a:ln>
        </p:spPr>
      </p:sp>
      <p:sp>
        <p:nvSpPr>
          <p:cNvPr id="7" name="Text 5"/>
          <p:cNvSpPr txBox="1"/>
          <p:nvPr/>
        </p:nvSpPr>
        <p:spPr>
          <a:xfrm>
            <a:off x="685800" y="1645920"/>
            <a:ext cx="2194560" cy="594360"/>
          </a:xfrm>
          <a:prstGeom prst="rect">
            <a:avLst/>
          </a:prstGeom>
          <a:noFill/>
          <a:ln/>
        </p:spPr>
        <p:txBody>
          <a:bodyPr wrap="square" lIns="0" tIns="0" rIns="0" bIns="0" rtlCol="0" anchor="t"/>
          <a:lstStyle/>
          <a:p>
            <a:pPr indent="0" marL="0">
              <a:buNone/>
            </a:pPr>
            <a:r>
              <a:rPr lang="en-US" sz="3600" b="1" dirty="0">
                <a:solidFill>
                  <a:schemeClr val="tx1"/>
                </a:solidFill>
                <a:latin typeface="Arial" pitchFamily="34" charset="0"/>
                <a:ea typeface="Arial" pitchFamily="34" charset="-122"/>
                <a:cs typeface="Arial" pitchFamily="34" charset="-120"/>
              </a:rPr>
              <a:t>0–100</a:t>
            </a:r>
            <a:endParaRPr lang="en-US" sz="3600" dirty="0"/>
          </a:p>
        </p:txBody>
      </p:sp>
      <p:sp>
        <p:nvSpPr>
          <p:cNvPr id="8" name="Text 6"/>
          <p:cNvSpPr txBox="1"/>
          <p:nvPr/>
        </p:nvSpPr>
        <p:spPr>
          <a:xfrm>
            <a:off x="685800" y="2313432"/>
            <a:ext cx="2194560" cy="274320"/>
          </a:xfrm>
          <a:prstGeom prst="rect">
            <a:avLst/>
          </a:prstGeom>
          <a:noFill/>
          <a:ln/>
        </p:spPr>
        <p:txBody>
          <a:bodyPr wrap="square" lIns="0" tIns="0" rIns="0" bIns="0" rtlCol="0" anchor="t"/>
          <a:lstStyle/>
          <a:p>
            <a:pPr indent="0" marL="0">
              <a:buNone/>
            </a:pPr>
            <a:r>
              <a:rPr lang="en-US" sz="1500" b="1" dirty="0">
                <a:solidFill>
                  <a:schemeClr val="tx1"/>
                </a:solidFill>
              </a:rPr>
              <a:t>Student Success Score</a:t>
            </a:r>
            <a:endParaRPr lang="en-US" sz="1500" dirty="0"/>
          </a:p>
        </p:txBody>
      </p:sp>
      <p:sp>
        <p:nvSpPr>
          <p:cNvPr id="9" name="Text 7"/>
          <p:cNvSpPr txBox="1"/>
          <p:nvPr/>
        </p:nvSpPr>
        <p:spPr>
          <a:xfrm>
            <a:off x="685800" y="2679192"/>
            <a:ext cx="2148840" cy="1463040"/>
          </a:xfrm>
          <a:prstGeom prst="rect">
            <a:avLst/>
          </a:prstGeom>
          <a:noFill/>
          <a:ln/>
        </p:spPr>
        <p:txBody>
          <a:bodyPr wrap="square" lIns="0" tIns="0" rIns="0" bIns="0" rtlCol="0" anchor="t"/>
          <a:lstStyle/>
          <a:p>
            <a:pPr indent="0" marL="0">
              <a:buNone/>
            </a:pPr>
            <a:r>
              <a:rPr lang="en-US" sz="1300" dirty="0">
                <a:solidFill>
                  <a:srgbClr val="5B6472"/>
                </a:solidFill>
              </a:rPr>
              <a:t>Seven data areas, normalised and weighted into one number per student. Every profile shows which area costs the most points.</a:t>
            </a:r>
            <a:endParaRPr lang="en-US" sz="1300" dirty="0"/>
          </a:p>
        </p:txBody>
      </p:sp>
      <p:sp>
        <p:nvSpPr>
          <p:cNvPr id="10" name="Shape 8"/>
          <p:cNvSpPr/>
          <p:nvPr/>
        </p:nvSpPr>
        <p:spPr>
          <a:xfrm>
            <a:off x="3497580" y="1673352"/>
            <a:ext cx="1463040" cy="274320"/>
          </a:xfrm>
          <a:prstGeom prst="roundRect">
            <a:avLst>
              <a:gd name="adj" fmla="val 50000"/>
            </a:avLst>
          </a:prstGeom>
          <a:solidFill>
            <a:schemeClr val="accent1"/>
          </a:solidFill>
          <a:ln w="12700">
            <a:solidFill>
              <a:schemeClr val="accent1"/>
            </a:solidFill>
            <a:prstDash val="solid"/>
          </a:ln>
        </p:spPr>
      </p:sp>
      <p:sp>
        <p:nvSpPr>
          <p:cNvPr id="11" name="Text 9"/>
          <p:cNvSpPr txBox="1"/>
          <p:nvPr/>
        </p:nvSpPr>
        <p:spPr>
          <a:xfrm>
            <a:off x="3497580" y="1673352"/>
            <a:ext cx="1463040" cy="274320"/>
          </a:xfrm>
          <a:prstGeom prst="rect">
            <a:avLst/>
          </a:prstGeom>
          <a:noFill/>
          <a:ln/>
        </p:spPr>
        <p:txBody>
          <a:bodyPr wrap="square" lIns="0" tIns="0" rIns="0" bIns="0" rtlCol="0" anchor="ctr"/>
          <a:lstStyle/>
          <a:p>
            <a:pPr algn="ctr" indent="0" marL="0">
              <a:buNone/>
            </a:pPr>
            <a:r>
              <a:rPr lang="en-US" sz="1100" b="1" dirty="0">
                <a:solidFill>
                  <a:schemeClr val="bg1"/>
                </a:solidFill>
              </a:rPr>
              <a:t>Academic risk</a:t>
            </a:r>
            <a:endParaRPr lang="en-US" sz="1100" dirty="0"/>
          </a:p>
        </p:txBody>
      </p:sp>
      <p:sp>
        <p:nvSpPr>
          <p:cNvPr id="12" name="Shape 10"/>
          <p:cNvSpPr/>
          <p:nvPr/>
        </p:nvSpPr>
        <p:spPr>
          <a:xfrm>
            <a:off x="3497580" y="2002536"/>
            <a:ext cx="1463040" cy="274320"/>
          </a:xfrm>
          <a:prstGeom prst="roundRect">
            <a:avLst>
              <a:gd name="adj" fmla="val 50000"/>
            </a:avLst>
          </a:prstGeom>
          <a:solidFill>
            <a:schemeClr val="accent2"/>
          </a:solidFill>
          <a:ln w="12700">
            <a:solidFill>
              <a:schemeClr val="accent2"/>
            </a:solidFill>
            <a:prstDash val="solid"/>
          </a:ln>
        </p:spPr>
      </p:sp>
      <p:sp>
        <p:nvSpPr>
          <p:cNvPr id="13" name="Text 11"/>
          <p:cNvSpPr txBox="1"/>
          <p:nvPr/>
        </p:nvSpPr>
        <p:spPr>
          <a:xfrm>
            <a:off x="3497580" y="2002536"/>
            <a:ext cx="1463040" cy="274320"/>
          </a:xfrm>
          <a:prstGeom prst="rect">
            <a:avLst/>
          </a:prstGeom>
          <a:noFill/>
          <a:ln/>
        </p:spPr>
        <p:txBody>
          <a:bodyPr wrap="square" lIns="0" tIns="0" rIns="0" bIns="0" rtlCol="0" anchor="ctr"/>
          <a:lstStyle/>
          <a:p>
            <a:pPr algn="ctr" indent="0" marL="0">
              <a:buNone/>
            </a:pPr>
            <a:r>
              <a:rPr lang="en-US" sz="1100" b="1" dirty="0">
                <a:solidFill>
                  <a:schemeClr val="bg1"/>
                </a:solidFill>
              </a:rPr>
              <a:t>Placement risk</a:t>
            </a:r>
            <a:endParaRPr lang="en-US" sz="1100" dirty="0"/>
          </a:p>
        </p:txBody>
      </p:sp>
      <p:sp>
        <p:nvSpPr>
          <p:cNvPr id="14" name="Text 12"/>
          <p:cNvSpPr txBox="1"/>
          <p:nvPr/>
        </p:nvSpPr>
        <p:spPr>
          <a:xfrm>
            <a:off x="3497580" y="2313432"/>
            <a:ext cx="2194560" cy="274320"/>
          </a:xfrm>
          <a:prstGeom prst="rect">
            <a:avLst/>
          </a:prstGeom>
          <a:noFill/>
          <a:ln/>
        </p:spPr>
        <p:txBody>
          <a:bodyPr wrap="square" lIns="0" tIns="0" rIns="0" bIns="0" rtlCol="0" anchor="t"/>
          <a:lstStyle/>
          <a:p>
            <a:pPr indent="0" marL="0">
              <a:buNone/>
            </a:pPr>
            <a:r>
              <a:rPr lang="en-US" sz="1500" b="1" dirty="0">
                <a:solidFill>
                  <a:schemeClr val="tx1"/>
                </a:solidFill>
              </a:rPr>
              <a:t>Two separate tracks</a:t>
            </a:r>
            <a:endParaRPr lang="en-US" sz="1500" dirty="0"/>
          </a:p>
        </p:txBody>
      </p:sp>
      <p:sp>
        <p:nvSpPr>
          <p:cNvPr id="15" name="Text 13"/>
          <p:cNvSpPr txBox="1"/>
          <p:nvPr/>
        </p:nvSpPr>
        <p:spPr>
          <a:xfrm>
            <a:off x="3497580" y="2679192"/>
            <a:ext cx="2148840" cy="1463040"/>
          </a:xfrm>
          <a:prstGeom prst="rect">
            <a:avLst/>
          </a:prstGeom>
          <a:noFill/>
          <a:ln/>
        </p:spPr>
        <p:txBody>
          <a:bodyPr wrap="square" lIns="0" tIns="0" rIns="0" bIns="0" rtlCol="0" anchor="t"/>
          <a:lstStyle/>
          <a:p>
            <a:pPr indent="0" marL="0">
              <a:buNone/>
            </a:pPr>
            <a:r>
              <a:rPr lang="en-US" sz="1300" dirty="0">
                <a:solidFill>
                  <a:srgbClr val="5B6472"/>
                </a:solidFill>
              </a:rPr>
              <a:t>Good grades don't mean placement-ready, so the two risks are never merged. A Random Forest model adds each student's placement probability.</a:t>
            </a:r>
            <a:endParaRPr lang="en-US" sz="1300" dirty="0"/>
          </a:p>
        </p:txBody>
      </p:sp>
      <p:sp>
        <p:nvSpPr>
          <p:cNvPr id="16" name="Text 14"/>
          <p:cNvSpPr txBox="1"/>
          <p:nvPr/>
        </p:nvSpPr>
        <p:spPr>
          <a:xfrm>
            <a:off x="6309360" y="1645920"/>
            <a:ext cx="2194560" cy="274320"/>
          </a:xfrm>
          <a:prstGeom prst="rect">
            <a:avLst/>
          </a:prstGeom>
          <a:noFill/>
          <a:ln/>
        </p:spPr>
        <p:txBody>
          <a:bodyPr wrap="square" lIns="0" tIns="0" rIns="0" bIns="0" rtlCol="0" anchor="t"/>
          <a:lstStyle/>
          <a:p>
            <a:pPr indent="0" marL="0">
              <a:buNone/>
            </a:pPr>
            <a:r>
              <a:rPr lang="en-US" sz="1500" b="1" dirty="0">
                <a:solidFill>
                  <a:schemeClr val="tx1"/>
                </a:solidFill>
              </a:rPr>
              <a:t>Every flag explained</a:t>
            </a:r>
            <a:endParaRPr lang="en-US" sz="1500" dirty="0"/>
          </a:p>
        </p:txBody>
      </p:sp>
      <p:sp>
        <p:nvSpPr>
          <p:cNvPr id="17" name="Text 15"/>
          <p:cNvSpPr txBox="1"/>
          <p:nvPr/>
        </p:nvSpPr>
        <p:spPr>
          <a:xfrm>
            <a:off x="6309360" y="1965960"/>
            <a:ext cx="2194560" cy="411480"/>
          </a:xfrm>
          <a:prstGeom prst="rect">
            <a:avLst/>
          </a:prstGeom>
          <a:noFill/>
          <a:ln/>
        </p:spPr>
        <p:txBody>
          <a:bodyPr wrap="square" lIns="0" tIns="0" rIns="0" bIns="0" rtlCol="0" anchor="t"/>
          <a:lstStyle/>
          <a:p>
            <a:pPr indent="0" marL="0">
              <a:buNone/>
            </a:pPr>
            <a:r>
              <a:rPr lang="en-US" sz="1200" dirty="0">
                <a:solidFill>
                  <a:srgbClr val="5B6472"/>
                </a:solidFill>
              </a:rPr>
              <a:t>Why one real student is high academic risk:</a:t>
            </a:r>
            <a:endParaRPr lang="en-US" sz="1200" dirty="0"/>
          </a:p>
        </p:txBody>
      </p:sp>
      <p:sp>
        <p:nvSpPr>
          <p:cNvPr id="18" name="Text 16"/>
          <p:cNvSpPr txBox="1"/>
          <p:nvPr/>
        </p:nvSpPr>
        <p:spPr>
          <a:xfrm>
            <a:off x="6309360" y="2496312"/>
            <a:ext cx="1645920" cy="182880"/>
          </a:xfrm>
          <a:prstGeom prst="rect">
            <a:avLst/>
          </a:prstGeom>
          <a:noFill/>
          <a:ln/>
        </p:spPr>
        <p:txBody>
          <a:bodyPr wrap="square" lIns="0" tIns="0" rIns="0" bIns="0" rtlCol="0" anchor="t"/>
          <a:lstStyle/>
          <a:p>
            <a:pPr indent="0" marL="0">
              <a:buNone/>
            </a:pPr>
            <a:r>
              <a:rPr lang="en-US" sz="1100" dirty="0">
                <a:solidFill>
                  <a:schemeClr val="tx1"/>
                </a:solidFill>
              </a:rPr>
              <a:t>Attendance (50%)</a:t>
            </a:r>
            <a:endParaRPr lang="en-US" sz="1100" dirty="0"/>
          </a:p>
        </p:txBody>
      </p:sp>
      <p:sp>
        <p:nvSpPr>
          <p:cNvPr id="19" name="Text 17"/>
          <p:cNvSpPr txBox="1"/>
          <p:nvPr/>
        </p:nvSpPr>
        <p:spPr>
          <a:xfrm>
            <a:off x="8001000" y="2496312"/>
            <a:ext cx="457200" cy="182880"/>
          </a:xfrm>
          <a:prstGeom prst="rect">
            <a:avLst/>
          </a:prstGeom>
          <a:noFill/>
          <a:ln/>
        </p:spPr>
        <p:txBody>
          <a:bodyPr wrap="square" lIns="0" tIns="0" rIns="0" bIns="0" rtlCol="0" anchor="t"/>
          <a:lstStyle/>
          <a:p>
            <a:pPr algn="r" indent="0" marL="0">
              <a:buNone/>
            </a:pPr>
            <a:r>
              <a:rPr lang="en-US" sz="1100" b="1" dirty="0">
                <a:solidFill>
                  <a:schemeClr val="tx1"/>
                </a:solidFill>
              </a:rPr>
              <a:t>41%</a:t>
            </a:r>
            <a:endParaRPr lang="en-US" sz="1100" dirty="0"/>
          </a:p>
        </p:txBody>
      </p:sp>
      <p:sp>
        <p:nvSpPr>
          <p:cNvPr id="20" name="Shape 18"/>
          <p:cNvSpPr/>
          <p:nvPr/>
        </p:nvSpPr>
        <p:spPr>
          <a:xfrm>
            <a:off x="6309360" y="2715768"/>
            <a:ext cx="2148840" cy="91440"/>
          </a:xfrm>
          <a:prstGeom prst="roundRect">
            <a:avLst>
              <a:gd name="adj" fmla="val 50000"/>
            </a:avLst>
          </a:prstGeom>
          <a:solidFill>
            <a:srgbClr val="DDE1E7"/>
          </a:solidFill>
          <a:ln w="12700">
            <a:solidFill>
              <a:srgbClr val="DDE1E7"/>
            </a:solidFill>
            <a:prstDash val="solid"/>
          </a:ln>
        </p:spPr>
      </p:sp>
      <p:sp>
        <p:nvSpPr>
          <p:cNvPr id="21" name="Shape 19"/>
          <p:cNvSpPr/>
          <p:nvPr/>
        </p:nvSpPr>
        <p:spPr>
          <a:xfrm>
            <a:off x="6309360" y="2715768"/>
            <a:ext cx="2041398" cy="91440"/>
          </a:xfrm>
          <a:prstGeom prst="roundRect">
            <a:avLst>
              <a:gd name="adj" fmla="val 50000"/>
            </a:avLst>
          </a:prstGeom>
          <a:solidFill>
            <a:schemeClr val="accent1"/>
          </a:solidFill>
          <a:ln w="12700">
            <a:solidFill>
              <a:srgbClr val="2A78D6"/>
            </a:solidFill>
            <a:prstDash val="solid"/>
          </a:ln>
        </p:spPr>
      </p:sp>
      <p:sp>
        <p:nvSpPr>
          <p:cNvPr id="22" name="Text 20"/>
          <p:cNvSpPr txBox="1"/>
          <p:nvPr/>
        </p:nvSpPr>
        <p:spPr>
          <a:xfrm>
            <a:off x="6309360" y="2926080"/>
            <a:ext cx="1645920" cy="182880"/>
          </a:xfrm>
          <a:prstGeom prst="rect">
            <a:avLst/>
          </a:prstGeom>
          <a:noFill/>
          <a:ln/>
        </p:spPr>
        <p:txBody>
          <a:bodyPr wrap="square" lIns="0" tIns="0" rIns="0" bIns="0" rtlCol="0" anchor="t"/>
          <a:lstStyle/>
          <a:p>
            <a:pPr indent="0" marL="0">
              <a:buNone/>
            </a:pPr>
            <a:r>
              <a:rPr lang="en-US" sz="1100" dirty="0">
                <a:solidFill>
                  <a:schemeClr val="tx1"/>
                </a:solidFill>
              </a:rPr>
              <a:t>CGPA 5.35</a:t>
            </a:r>
            <a:endParaRPr lang="en-US" sz="1100" dirty="0"/>
          </a:p>
        </p:txBody>
      </p:sp>
      <p:sp>
        <p:nvSpPr>
          <p:cNvPr id="23" name="Text 21"/>
          <p:cNvSpPr txBox="1"/>
          <p:nvPr/>
        </p:nvSpPr>
        <p:spPr>
          <a:xfrm>
            <a:off x="8001000" y="2926080"/>
            <a:ext cx="457200" cy="182880"/>
          </a:xfrm>
          <a:prstGeom prst="rect">
            <a:avLst/>
          </a:prstGeom>
          <a:noFill/>
          <a:ln/>
        </p:spPr>
        <p:txBody>
          <a:bodyPr wrap="square" lIns="0" tIns="0" rIns="0" bIns="0" rtlCol="0" anchor="t"/>
          <a:lstStyle/>
          <a:p>
            <a:pPr algn="r" indent="0" marL="0">
              <a:buNone/>
            </a:pPr>
            <a:r>
              <a:rPr lang="en-US" sz="1100" b="1" dirty="0">
                <a:solidFill>
                  <a:schemeClr val="tx1"/>
                </a:solidFill>
              </a:rPr>
              <a:t>29%</a:t>
            </a:r>
            <a:endParaRPr lang="en-US" sz="1100" dirty="0"/>
          </a:p>
        </p:txBody>
      </p:sp>
      <p:sp>
        <p:nvSpPr>
          <p:cNvPr id="24" name="Shape 22"/>
          <p:cNvSpPr/>
          <p:nvPr/>
        </p:nvSpPr>
        <p:spPr>
          <a:xfrm>
            <a:off x="6309360" y="3145536"/>
            <a:ext cx="2148840" cy="91440"/>
          </a:xfrm>
          <a:prstGeom prst="roundRect">
            <a:avLst>
              <a:gd name="adj" fmla="val 50000"/>
            </a:avLst>
          </a:prstGeom>
          <a:solidFill>
            <a:srgbClr val="DDE1E7"/>
          </a:solidFill>
          <a:ln w="12700">
            <a:solidFill>
              <a:srgbClr val="DDE1E7"/>
            </a:solidFill>
            <a:prstDash val="solid"/>
          </a:ln>
        </p:spPr>
      </p:sp>
      <p:sp>
        <p:nvSpPr>
          <p:cNvPr id="25" name="Shape 23"/>
          <p:cNvSpPr/>
          <p:nvPr/>
        </p:nvSpPr>
        <p:spPr>
          <a:xfrm>
            <a:off x="6309360" y="3145536"/>
            <a:ext cx="1443916" cy="91440"/>
          </a:xfrm>
          <a:prstGeom prst="roundRect">
            <a:avLst>
              <a:gd name="adj" fmla="val 50000"/>
            </a:avLst>
          </a:prstGeom>
          <a:solidFill>
            <a:schemeClr val="accent1"/>
          </a:solidFill>
          <a:ln w="12700">
            <a:solidFill>
              <a:srgbClr val="2A78D6"/>
            </a:solidFill>
            <a:prstDash val="solid"/>
          </a:ln>
        </p:spPr>
      </p:sp>
      <p:sp>
        <p:nvSpPr>
          <p:cNvPr id="26" name="Text 24"/>
          <p:cNvSpPr txBox="1"/>
          <p:nvPr/>
        </p:nvSpPr>
        <p:spPr>
          <a:xfrm>
            <a:off x="6309360" y="3355848"/>
            <a:ext cx="1645920" cy="182880"/>
          </a:xfrm>
          <a:prstGeom prst="rect">
            <a:avLst/>
          </a:prstGeom>
          <a:noFill/>
          <a:ln/>
        </p:spPr>
        <p:txBody>
          <a:bodyPr wrap="square" lIns="0" tIns="0" rIns="0" bIns="0" rtlCol="0" anchor="t"/>
          <a:lstStyle/>
          <a:p>
            <a:pPr indent="0" marL="0">
              <a:buNone/>
            </a:pPr>
            <a:r>
              <a:rPr lang="en-US" sz="1100" dirty="0">
                <a:solidFill>
                  <a:schemeClr val="tx1"/>
                </a:solidFill>
              </a:rPr>
              <a:t>4 active backlogs</a:t>
            </a:r>
            <a:endParaRPr lang="en-US" sz="1100" dirty="0"/>
          </a:p>
        </p:txBody>
      </p:sp>
      <p:sp>
        <p:nvSpPr>
          <p:cNvPr id="27" name="Text 25"/>
          <p:cNvSpPr txBox="1"/>
          <p:nvPr/>
        </p:nvSpPr>
        <p:spPr>
          <a:xfrm>
            <a:off x="8001000" y="3355848"/>
            <a:ext cx="457200" cy="182880"/>
          </a:xfrm>
          <a:prstGeom prst="rect">
            <a:avLst/>
          </a:prstGeom>
          <a:noFill/>
          <a:ln/>
        </p:spPr>
        <p:txBody>
          <a:bodyPr wrap="square" lIns="0" tIns="0" rIns="0" bIns="0" rtlCol="0" anchor="t"/>
          <a:lstStyle/>
          <a:p>
            <a:pPr algn="r" indent="0" marL="0">
              <a:buNone/>
            </a:pPr>
            <a:r>
              <a:rPr lang="en-US" sz="1100" b="1" dirty="0">
                <a:solidFill>
                  <a:schemeClr val="tx1"/>
                </a:solidFill>
              </a:rPr>
              <a:t>23%</a:t>
            </a:r>
            <a:endParaRPr lang="en-US" sz="1100" dirty="0"/>
          </a:p>
        </p:txBody>
      </p:sp>
      <p:sp>
        <p:nvSpPr>
          <p:cNvPr id="28" name="Shape 26"/>
          <p:cNvSpPr/>
          <p:nvPr/>
        </p:nvSpPr>
        <p:spPr>
          <a:xfrm>
            <a:off x="6309360" y="3575304"/>
            <a:ext cx="2148840" cy="91440"/>
          </a:xfrm>
          <a:prstGeom prst="roundRect">
            <a:avLst>
              <a:gd name="adj" fmla="val 50000"/>
            </a:avLst>
          </a:prstGeom>
          <a:solidFill>
            <a:srgbClr val="DDE1E7"/>
          </a:solidFill>
          <a:ln w="12700">
            <a:solidFill>
              <a:srgbClr val="DDE1E7"/>
            </a:solidFill>
            <a:prstDash val="solid"/>
          </a:ln>
        </p:spPr>
      </p:sp>
      <p:sp>
        <p:nvSpPr>
          <p:cNvPr id="29" name="Shape 27"/>
          <p:cNvSpPr/>
          <p:nvPr/>
        </p:nvSpPr>
        <p:spPr>
          <a:xfrm>
            <a:off x="6309360" y="3575304"/>
            <a:ext cx="1145174" cy="91440"/>
          </a:xfrm>
          <a:prstGeom prst="roundRect">
            <a:avLst>
              <a:gd name="adj" fmla="val 50000"/>
            </a:avLst>
          </a:prstGeom>
          <a:solidFill>
            <a:schemeClr val="accent1"/>
          </a:solidFill>
          <a:ln w="12700">
            <a:solidFill>
              <a:srgbClr val="2A78D6"/>
            </a:solidFill>
            <a:prstDash val="solid"/>
          </a:ln>
        </p:spPr>
      </p:sp>
      <p:sp>
        <p:nvSpPr>
          <p:cNvPr id="30" name="Text 28"/>
          <p:cNvSpPr txBox="1"/>
          <p:nvPr/>
        </p:nvSpPr>
        <p:spPr>
          <a:xfrm>
            <a:off x="6309360" y="3785616"/>
            <a:ext cx="1645920" cy="182880"/>
          </a:xfrm>
          <a:prstGeom prst="rect">
            <a:avLst/>
          </a:prstGeom>
          <a:noFill/>
          <a:ln/>
        </p:spPr>
        <p:txBody>
          <a:bodyPr wrap="square" lIns="0" tIns="0" rIns="0" bIns="0" rtlCol="0" anchor="t"/>
          <a:lstStyle/>
          <a:p>
            <a:pPr indent="0" marL="0">
              <a:buNone/>
            </a:pPr>
            <a:r>
              <a:rPr lang="en-US" sz="1100" dirty="0">
                <a:solidFill>
                  <a:schemeClr val="tx1"/>
                </a:solidFill>
              </a:rPr>
              <a:t>LMS completion</a:t>
            </a:r>
            <a:endParaRPr lang="en-US" sz="1100" dirty="0"/>
          </a:p>
        </p:txBody>
      </p:sp>
      <p:sp>
        <p:nvSpPr>
          <p:cNvPr id="31" name="Text 29"/>
          <p:cNvSpPr txBox="1"/>
          <p:nvPr/>
        </p:nvSpPr>
        <p:spPr>
          <a:xfrm>
            <a:off x="8001000" y="3785616"/>
            <a:ext cx="457200" cy="182880"/>
          </a:xfrm>
          <a:prstGeom prst="rect">
            <a:avLst/>
          </a:prstGeom>
          <a:noFill/>
          <a:ln/>
        </p:spPr>
        <p:txBody>
          <a:bodyPr wrap="square" lIns="0" tIns="0" rIns="0" bIns="0" rtlCol="0" anchor="t"/>
          <a:lstStyle/>
          <a:p>
            <a:pPr algn="r" indent="0" marL="0">
              <a:buNone/>
            </a:pPr>
            <a:r>
              <a:rPr lang="en-US" sz="1100" b="1" dirty="0">
                <a:solidFill>
                  <a:schemeClr val="tx1"/>
                </a:solidFill>
              </a:rPr>
              <a:t>7%</a:t>
            </a:r>
            <a:endParaRPr lang="en-US" sz="1100" dirty="0"/>
          </a:p>
        </p:txBody>
      </p:sp>
      <p:sp>
        <p:nvSpPr>
          <p:cNvPr id="32" name="Shape 30"/>
          <p:cNvSpPr/>
          <p:nvPr/>
        </p:nvSpPr>
        <p:spPr>
          <a:xfrm>
            <a:off x="6309360" y="4005072"/>
            <a:ext cx="2148840" cy="91440"/>
          </a:xfrm>
          <a:prstGeom prst="roundRect">
            <a:avLst>
              <a:gd name="adj" fmla="val 50000"/>
            </a:avLst>
          </a:prstGeom>
          <a:solidFill>
            <a:srgbClr val="DDE1E7"/>
          </a:solidFill>
          <a:ln w="12700">
            <a:solidFill>
              <a:srgbClr val="DDE1E7"/>
            </a:solidFill>
            <a:prstDash val="solid"/>
          </a:ln>
        </p:spPr>
      </p:sp>
      <p:sp>
        <p:nvSpPr>
          <p:cNvPr id="33" name="Shape 31"/>
          <p:cNvSpPr/>
          <p:nvPr/>
        </p:nvSpPr>
        <p:spPr>
          <a:xfrm>
            <a:off x="6309360" y="4005072"/>
            <a:ext cx="348531" cy="91440"/>
          </a:xfrm>
          <a:prstGeom prst="roundRect">
            <a:avLst>
              <a:gd name="adj" fmla="val 50000"/>
            </a:avLst>
          </a:prstGeom>
          <a:solidFill>
            <a:schemeClr val="accent1"/>
          </a:solidFill>
          <a:ln w="12700">
            <a:solidFill>
              <a:srgbClr val="2A78D6"/>
            </a:solidFill>
            <a:prstDash val="solid"/>
          </a:ln>
        </p:spPr>
      </p:sp>
      <p:sp>
        <p:nvSpPr>
          <p:cNvPr id="25" name="Slide Number Placeholder 0"/>
          <p:cNvSpPr>
            <a:spLocks noGrp="1"/>
          </p:cNvSpPr>
          <p:nvPr>
            <p:ph type="sldNum" sz="quarter" idx="4294967295"/>
          </p:nvPr>
        </p:nvSpPr>
        <p:spPr>
          <a:xfrm>
            <a:off x="8321040" y="4700016"/>
            <a:ext cx="36576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8A929E"/>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457200" y="320040"/>
            <a:ext cx="8229600" cy="256032"/>
          </a:xfrm>
          <a:prstGeom prst="rect">
            <a:avLst/>
          </a:prstGeom>
          <a:noFill/>
          <a:ln/>
        </p:spPr>
        <p:txBody>
          <a:bodyPr wrap="square" lIns="0" tIns="0" rIns="0" bIns="0" rtlCol="0" anchor="t"/>
          <a:lstStyle/>
          <a:p>
            <a:pPr indent="0" marL="0">
              <a:buNone/>
            </a:pPr>
            <a:r>
              <a:rPr lang="en-US" sz="1100" b="1" spc="150" kern="0" dirty="0">
                <a:solidFill>
                  <a:schemeClr val="accent1"/>
                </a:solidFill>
              </a:rPr>
              <a:t>WHAT THE DATA SHOWED</a:t>
            </a:r>
            <a:endParaRPr lang="en-US" sz="1100" dirty="0"/>
          </a:p>
        </p:txBody>
      </p:sp>
      <p:sp>
        <p:nvSpPr>
          <p:cNvPr id="3" name="Text 1"/>
          <p:cNvSpPr/>
          <p:nvPr>
            <p:ph idx="103" type="title" hasCustomPrompt="1"/>
          </p:nvPr>
        </p:nvSpPr>
        <p:spPr>
          <a:xfrm>
            <a:off x="457200" y="566928"/>
            <a:ext cx="8229600" cy="566928"/>
          </a:xfrm>
          <a:prstGeom prst="rect">
            <a:avLst/>
          </a:prstGeom>
          <a:noFill/>
          <a:ln/>
        </p:spPr>
        <p:txBody>
          <a:bodyPr wrap="square" lIns="0" tIns="0" rIns="0" bIns="0" rtlCol="0" anchor="t"/>
          <a:lstStyle/>
          <a:p>
            <a:pPr algn="l" indent="0" marL="0">
              <a:buNone/>
            </a:pPr>
            <a:r>
              <a:rPr lang="en-US" sz="2600" b="1" dirty="0">
                <a:solidFill>
                  <a:schemeClr val="tx1"/>
                </a:solidFill>
                <a:latin typeface="Arial" pitchFamily="34" charset="0"/>
                <a:ea typeface="Arial" pitchFamily="34" charset="-122"/>
                <a:cs typeface="Arial" pitchFamily="34" charset="-120"/>
              </a:rPr>
              <a:t>What joining the data revealed</a:t>
            </a:r>
            <a:endParaRPr lang="en-US" sz="2600" dirty="0"/>
          </a:p>
        </p:txBody>
      </p:sp>
      <p:sp>
        <p:nvSpPr>
          <p:cNvPr id="4" name="Finding 1"/>
          <p:cNvSpPr/>
          <p:nvPr/>
        </p:nvSpPr>
        <p:spPr>
          <a:xfrm>
            <a:off x="457200" y="1417320"/>
            <a:ext cx="4023360" cy="1280160"/>
          </a:xfrm>
          <a:prstGeom prst="roundRect">
            <a:avLst>
              <a:gd name="adj" fmla="val 8571"/>
            </a:avLst>
          </a:prstGeom>
          <a:solidFill>
            <a:schemeClr val="bg2"/>
          </a:solidFill>
          <a:ln w="12700">
            <a:solidFill>
              <a:srgbClr val="F3F4F6"/>
            </a:solidFill>
            <a:prstDash val="solid"/>
          </a:ln>
        </p:spPr>
      </p:sp>
      <p:sp>
        <p:nvSpPr>
          <p:cNvPr id="5" name="Text 3"/>
          <p:cNvSpPr txBox="1"/>
          <p:nvPr/>
        </p:nvSpPr>
        <p:spPr>
          <a:xfrm>
            <a:off x="731520" y="1645920"/>
            <a:ext cx="3566160" cy="548640"/>
          </a:xfrm>
          <a:prstGeom prst="rect">
            <a:avLst/>
          </a:prstGeom>
          <a:noFill/>
          <a:ln/>
        </p:spPr>
        <p:txBody>
          <a:bodyPr wrap="square" lIns="0" tIns="0" rIns="0" bIns="0" rtlCol="0" anchor="t"/>
          <a:lstStyle/>
          <a:p>
            <a:pPr indent="0" marL="0">
              <a:buNone/>
            </a:pPr>
            <a:r>
              <a:rPr lang="en-US" sz="3000" b="1" dirty="0">
                <a:solidFill>
                  <a:srgbClr val="EB6834"/>
                </a:solidFill>
                <a:latin typeface="Arial" pitchFamily="34" charset="0"/>
                <a:ea typeface="Arial" pitchFamily="34" charset="-122"/>
                <a:cs typeface="Arial" pitchFamily="34" charset="-120"/>
              </a:rPr>
              <a:t>203 / 344</a:t>
            </a:r>
            <a:endParaRPr lang="en-US" sz="3000" dirty="0"/>
          </a:p>
        </p:txBody>
      </p:sp>
      <p:sp>
        <p:nvSpPr>
          <p:cNvPr id="6" name="Text 4"/>
          <p:cNvSpPr txBox="1"/>
          <p:nvPr/>
        </p:nvSpPr>
        <p:spPr>
          <a:xfrm>
            <a:off x="731520" y="2194560"/>
            <a:ext cx="3566160" cy="411480"/>
          </a:xfrm>
          <a:prstGeom prst="rect">
            <a:avLst/>
          </a:prstGeom>
          <a:noFill/>
          <a:ln/>
        </p:spPr>
        <p:txBody>
          <a:bodyPr wrap="square" lIns="0" tIns="0" rIns="0" bIns="0" rtlCol="0" anchor="t"/>
          <a:lstStyle/>
          <a:p>
            <a:pPr indent="0" marL="0">
              <a:buNone/>
            </a:pPr>
            <a:r>
              <a:rPr lang="en-US" sz="1300" dirty="0">
                <a:solidFill>
                  <a:schemeClr val="tx1"/>
                </a:solidFill>
              </a:rPr>
              <a:t>students with CGPA 8+ are below the placement-readiness bar</a:t>
            </a:r>
            <a:endParaRPr lang="en-US" sz="1300" dirty="0"/>
          </a:p>
        </p:txBody>
      </p:sp>
      <p:sp>
        <p:nvSpPr>
          <p:cNvPr id="7" name="Finding 2"/>
          <p:cNvSpPr/>
          <p:nvPr/>
        </p:nvSpPr>
        <p:spPr>
          <a:xfrm>
            <a:off x="4663440" y="1417320"/>
            <a:ext cx="4023360" cy="1280160"/>
          </a:xfrm>
          <a:prstGeom prst="roundRect">
            <a:avLst>
              <a:gd name="adj" fmla="val 8571"/>
            </a:avLst>
          </a:prstGeom>
          <a:solidFill>
            <a:schemeClr val="bg2"/>
          </a:solidFill>
          <a:ln w="12700">
            <a:solidFill>
              <a:srgbClr val="F3F4F6"/>
            </a:solidFill>
            <a:prstDash val="solid"/>
          </a:ln>
        </p:spPr>
      </p:sp>
      <p:sp>
        <p:nvSpPr>
          <p:cNvPr id="8" name="Text 6"/>
          <p:cNvSpPr txBox="1"/>
          <p:nvPr/>
        </p:nvSpPr>
        <p:spPr>
          <a:xfrm>
            <a:off x="4937760" y="1645920"/>
            <a:ext cx="3566160" cy="548640"/>
          </a:xfrm>
          <a:prstGeom prst="rect">
            <a:avLst/>
          </a:prstGeom>
          <a:noFill/>
          <a:ln/>
        </p:spPr>
        <p:txBody>
          <a:bodyPr wrap="square" lIns="0" tIns="0" rIns="0" bIns="0" rtlCol="0" anchor="t"/>
          <a:lstStyle/>
          <a:p>
            <a:pPr indent="0" marL="0">
              <a:buNone/>
            </a:pPr>
            <a:r>
              <a:rPr lang="en-US" sz="3000" b="1" dirty="0">
                <a:solidFill>
                  <a:srgbClr val="2A78D6"/>
                </a:solidFill>
                <a:latin typeface="Arial" pitchFamily="34" charset="0"/>
                <a:ea typeface="Arial" pitchFamily="34" charset="-122"/>
                <a:cs typeface="Arial" pitchFamily="34" charset="-120"/>
              </a:rPr>
              <a:t>558</a:t>
            </a:r>
            <a:endParaRPr lang="en-US" sz="3000" dirty="0"/>
          </a:p>
        </p:txBody>
      </p:sp>
      <p:sp>
        <p:nvSpPr>
          <p:cNvPr id="9" name="Text 7"/>
          <p:cNvSpPr txBox="1"/>
          <p:nvPr/>
        </p:nvSpPr>
        <p:spPr>
          <a:xfrm>
            <a:off x="4937760" y="2194560"/>
            <a:ext cx="3566160" cy="411480"/>
          </a:xfrm>
          <a:prstGeom prst="rect">
            <a:avLst/>
          </a:prstGeom>
          <a:noFill/>
          <a:ln/>
        </p:spPr>
        <p:txBody>
          <a:bodyPr wrap="square" lIns="0" tIns="0" rIns="0" bIns="0" rtlCol="0" anchor="t"/>
          <a:lstStyle/>
          <a:p>
            <a:pPr indent="0" marL="0">
              <a:buNone/>
            </a:pPr>
            <a:r>
              <a:rPr lang="en-US" sz="1300" dirty="0">
                <a:solidFill>
                  <a:schemeClr val="tx1"/>
                </a:solidFill>
              </a:rPr>
              <a:t>students are under the 75% attendance rule to sit exams</a:t>
            </a:r>
            <a:endParaRPr lang="en-US" sz="1300" dirty="0"/>
          </a:p>
        </p:txBody>
      </p:sp>
      <p:sp>
        <p:nvSpPr>
          <p:cNvPr id="10" name="Finding 3"/>
          <p:cNvSpPr/>
          <p:nvPr/>
        </p:nvSpPr>
        <p:spPr>
          <a:xfrm>
            <a:off x="457200" y="2880360"/>
            <a:ext cx="4023360" cy="1280160"/>
          </a:xfrm>
          <a:prstGeom prst="roundRect">
            <a:avLst>
              <a:gd name="adj" fmla="val 8571"/>
            </a:avLst>
          </a:prstGeom>
          <a:solidFill>
            <a:schemeClr val="bg2"/>
          </a:solidFill>
          <a:ln w="12700">
            <a:solidFill>
              <a:srgbClr val="F3F4F6"/>
            </a:solidFill>
            <a:prstDash val="solid"/>
          </a:ln>
        </p:spPr>
      </p:sp>
      <p:sp>
        <p:nvSpPr>
          <p:cNvPr id="11" name="Text 9"/>
          <p:cNvSpPr txBox="1"/>
          <p:nvPr/>
        </p:nvSpPr>
        <p:spPr>
          <a:xfrm>
            <a:off x="731520" y="3108960"/>
            <a:ext cx="3566160" cy="548640"/>
          </a:xfrm>
          <a:prstGeom prst="rect">
            <a:avLst/>
          </a:prstGeom>
          <a:noFill/>
          <a:ln/>
        </p:spPr>
        <p:txBody>
          <a:bodyPr wrap="square" lIns="0" tIns="0" rIns="0" bIns="0" rtlCol="0" anchor="t"/>
          <a:lstStyle/>
          <a:p>
            <a:pPr indent="0" marL="0">
              <a:buNone/>
            </a:pPr>
            <a:r>
              <a:rPr lang="en-US" sz="3000" b="1" dirty="0">
                <a:solidFill>
                  <a:srgbClr val="EB6834"/>
                </a:solidFill>
                <a:latin typeface="Arial" pitchFamily="34" charset="0"/>
                <a:ea typeface="Arial" pitchFamily="34" charset="-122"/>
                <a:cs typeface="Arial" pitchFamily="34" charset="-120"/>
              </a:rPr>
              <a:t>0.64 vs 0.30</a:t>
            </a:r>
            <a:endParaRPr lang="en-US" sz="3000" dirty="0"/>
          </a:p>
        </p:txBody>
      </p:sp>
      <p:sp>
        <p:nvSpPr>
          <p:cNvPr id="12" name="Text 10"/>
          <p:cNvSpPr txBox="1"/>
          <p:nvPr/>
        </p:nvSpPr>
        <p:spPr>
          <a:xfrm>
            <a:off x="731520" y="3657600"/>
            <a:ext cx="3566160" cy="411480"/>
          </a:xfrm>
          <a:prstGeom prst="rect">
            <a:avLst/>
          </a:prstGeom>
          <a:noFill/>
          <a:ln/>
        </p:spPr>
        <p:txBody>
          <a:bodyPr wrap="square" lIns="0" tIns="0" rIns="0" bIns="0" rtlCol="0" anchor="t"/>
          <a:lstStyle/>
          <a:p>
            <a:pPr indent="0" marL="0">
              <a:buNone/>
            </a:pPr>
            <a:r>
              <a:rPr lang="en-US" sz="1300" dirty="0">
                <a:solidFill>
                  <a:schemeClr val="tx1"/>
                </a:solidFill>
              </a:rPr>
              <a:t>coding and aptitude predict placement far better than CGPA (correlation)</a:t>
            </a:r>
            <a:endParaRPr lang="en-US" sz="1300" dirty="0"/>
          </a:p>
        </p:txBody>
      </p:sp>
      <p:sp>
        <p:nvSpPr>
          <p:cNvPr id="13" name="Finding 4"/>
          <p:cNvSpPr/>
          <p:nvPr/>
        </p:nvSpPr>
        <p:spPr>
          <a:xfrm>
            <a:off x="4663440" y="2880360"/>
            <a:ext cx="4023360" cy="1280160"/>
          </a:xfrm>
          <a:prstGeom prst="roundRect">
            <a:avLst>
              <a:gd name="adj" fmla="val 8571"/>
            </a:avLst>
          </a:prstGeom>
          <a:solidFill>
            <a:schemeClr val="bg2"/>
          </a:solidFill>
          <a:ln w="12700">
            <a:solidFill>
              <a:srgbClr val="F3F4F6"/>
            </a:solidFill>
            <a:prstDash val="solid"/>
          </a:ln>
        </p:spPr>
      </p:sp>
      <p:sp>
        <p:nvSpPr>
          <p:cNvPr id="14" name="Text 12"/>
          <p:cNvSpPr txBox="1"/>
          <p:nvPr/>
        </p:nvSpPr>
        <p:spPr>
          <a:xfrm>
            <a:off x="4937760" y="3108960"/>
            <a:ext cx="3566160" cy="548640"/>
          </a:xfrm>
          <a:prstGeom prst="rect">
            <a:avLst/>
          </a:prstGeom>
          <a:noFill/>
          <a:ln/>
        </p:spPr>
        <p:txBody>
          <a:bodyPr wrap="square" lIns="0" tIns="0" rIns="0" bIns="0" rtlCol="0" anchor="t"/>
          <a:lstStyle/>
          <a:p>
            <a:pPr indent="0" marL="0">
              <a:buNone/>
            </a:pPr>
            <a:r>
              <a:rPr lang="en-US" sz="3000" b="1" dirty="0">
                <a:solidFill>
                  <a:srgbClr val="5B6472"/>
                </a:solidFill>
                <a:latin typeface="Arial" pitchFamily="34" charset="0"/>
                <a:ea typeface="Arial" pitchFamily="34" charset="-122"/>
                <a:cs typeface="Arial" pitchFamily="34" charset="-120"/>
              </a:rPr>
              <a:t>0.00</a:t>
            </a:r>
            <a:endParaRPr lang="en-US" sz="3000" dirty="0"/>
          </a:p>
        </p:txBody>
      </p:sp>
      <p:sp>
        <p:nvSpPr>
          <p:cNvPr id="15" name="Text 13"/>
          <p:cNvSpPr txBox="1"/>
          <p:nvPr/>
        </p:nvSpPr>
        <p:spPr>
          <a:xfrm>
            <a:off x="4937760" y="3657600"/>
            <a:ext cx="3566160" cy="411480"/>
          </a:xfrm>
          <a:prstGeom prst="rect">
            <a:avLst/>
          </a:prstGeom>
          <a:noFill/>
          <a:ln/>
        </p:spPr>
        <p:txBody>
          <a:bodyPr wrap="square" lIns="0" tIns="0" rIns="0" bIns="0" rtlCol="0" anchor="t"/>
          <a:lstStyle/>
          <a:p>
            <a:pPr indent="0" marL="0">
              <a:buNone/>
            </a:pPr>
            <a:r>
              <a:rPr lang="en-US" sz="1300" dirty="0">
                <a:solidFill>
                  <a:schemeClr val="tx1"/>
                </a:solidFill>
              </a:rPr>
              <a:t>clubs and events show no link to grades, so they carry just 5% weight</a:t>
            </a:r>
            <a:endParaRPr lang="en-US" sz="1300" dirty="0"/>
          </a:p>
        </p:txBody>
      </p:sp>
      <p:sp>
        <p:nvSpPr>
          <p:cNvPr id="25" name="Slide Number Placeholder 0"/>
          <p:cNvSpPr>
            <a:spLocks noGrp="1"/>
          </p:cNvSpPr>
          <p:nvPr>
            <p:ph type="sldNum" sz="quarter" idx="4294967295"/>
          </p:nvPr>
        </p:nvSpPr>
        <p:spPr>
          <a:xfrm>
            <a:off x="8321040" y="4700016"/>
            <a:ext cx="36576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8A929E"/>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457200" y="320040"/>
            <a:ext cx="8229600" cy="256032"/>
          </a:xfrm>
          <a:prstGeom prst="rect">
            <a:avLst/>
          </a:prstGeom>
          <a:noFill/>
          <a:ln/>
        </p:spPr>
        <p:txBody>
          <a:bodyPr wrap="square" lIns="0" tIns="0" rIns="0" bIns="0" rtlCol="0" anchor="t"/>
          <a:lstStyle/>
          <a:p>
            <a:pPr indent="0" marL="0">
              <a:buNone/>
            </a:pPr>
            <a:r>
              <a:rPr lang="en-US" sz="1100" b="1" spc="150" kern="0" dirty="0">
                <a:solidFill>
                  <a:schemeClr val="accent1"/>
                </a:solidFill>
              </a:rPr>
              <a:t>ARCHITECTURE</a:t>
            </a:r>
            <a:endParaRPr lang="en-US" sz="1100" dirty="0"/>
          </a:p>
        </p:txBody>
      </p:sp>
      <p:sp>
        <p:nvSpPr>
          <p:cNvPr id="3" name="Text 1"/>
          <p:cNvSpPr/>
          <p:nvPr>
            <p:ph idx="103" type="title" hasCustomPrompt="1"/>
          </p:nvPr>
        </p:nvSpPr>
        <p:spPr>
          <a:xfrm>
            <a:off x="457200" y="566928"/>
            <a:ext cx="8229600" cy="566928"/>
          </a:xfrm>
          <a:prstGeom prst="rect">
            <a:avLst/>
          </a:prstGeom>
          <a:noFill/>
          <a:ln/>
        </p:spPr>
        <p:txBody>
          <a:bodyPr wrap="square" lIns="0" tIns="0" rIns="0" bIns="0" rtlCol="0" anchor="t"/>
          <a:lstStyle/>
          <a:p>
            <a:pPr algn="l" indent="0" marL="0">
              <a:buNone/>
            </a:pPr>
            <a:r>
              <a:rPr lang="en-US" sz="2600" b="1" dirty="0">
                <a:solidFill>
                  <a:schemeClr val="tx1"/>
                </a:solidFill>
                <a:latin typeface="Arial" pitchFamily="34" charset="0"/>
                <a:ea typeface="Arial" pitchFamily="34" charset="-122"/>
                <a:cs typeface="Arial" pitchFamily="34" charset="-120"/>
              </a:rPr>
              <a:t>From seven CSV exports to mentor actions</a:t>
            </a:r>
            <a:endParaRPr lang="en-US" sz="2600" dirty="0"/>
          </a:p>
        </p:txBody>
      </p:sp>
      <p:sp>
        <p:nvSpPr>
          <p:cNvPr id="4" name="Step 1"/>
          <p:cNvSpPr/>
          <p:nvPr/>
        </p:nvSpPr>
        <p:spPr>
          <a:xfrm>
            <a:off x="457200" y="1463040"/>
            <a:ext cx="1783080" cy="1737360"/>
          </a:xfrm>
          <a:prstGeom prst="roundRect">
            <a:avLst>
              <a:gd name="adj" fmla="val 6316"/>
            </a:avLst>
          </a:prstGeom>
          <a:solidFill>
            <a:schemeClr val="bg2"/>
          </a:solidFill>
          <a:ln w="12700">
            <a:solidFill>
              <a:srgbClr val="F3F4F6"/>
            </a:solidFill>
            <a:prstDash val="solid"/>
          </a:ln>
        </p:spPr>
      </p:sp>
      <p:sp>
        <p:nvSpPr>
          <p:cNvPr id="5" name="Shape 3"/>
          <p:cNvSpPr/>
          <p:nvPr/>
        </p:nvSpPr>
        <p:spPr>
          <a:xfrm>
            <a:off x="658368" y="1664208"/>
            <a:ext cx="365760" cy="365760"/>
          </a:xfrm>
          <a:prstGeom prst="ellipse">
            <a:avLst/>
          </a:prstGeom>
          <a:solidFill>
            <a:schemeClr val="tx1"/>
          </a:solidFill>
          <a:ln w="12700">
            <a:solidFill>
              <a:srgbClr val="0D1117"/>
            </a:solidFill>
            <a:prstDash val="solid"/>
          </a:ln>
        </p:spPr>
      </p:sp>
      <p:sp>
        <p:nvSpPr>
          <p:cNvPr id="6" name="Text 4"/>
          <p:cNvSpPr txBox="1"/>
          <p:nvPr/>
        </p:nvSpPr>
        <p:spPr>
          <a:xfrm>
            <a:off x="658368" y="1664208"/>
            <a:ext cx="365760" cy="365760"/>
          </a:xfrm>
          <a:prstGeom prst="rect">
            <a:avLst/>
          </a:prstGeom>
          <a:noFill/>
          <a:ln/>
        </p:spPr>
        <p:txBody>
          <a:bodyPr wrap="square" lIns="0" tIns="0" rIns="0" bIns="0" rtlCol="0" anchor="ctr"/>
          <a:lstStyle/>
          <a:p>
            <a:pPr algn="ctr" indent="0" marL="0">
              <a:buNone/>
            </a:pPr>
            <a:r>
              <a:rPr lang="en-US" sz="1300" b="1" dirty="0">
                <a:solidFill>
                  <a:schemeClr val="accent3"/>
                </a:solidFill>
              </a:rPr>
              <a:t>1</a:t>
            </a:r>
            <a:endParaRPr lang="en-US" sz="1300" dirty="0"/>
          </a:p>
        </p:txBody>
      </p:sp>
      <p:sp>
        <p:nvSpPr>
          <p:cNvPr id="7" name="Text 5"/>
          <p:cNvSpPr txBox="1"/>
          <p:nvPr/>
        </p:nvSpPr>
        <p:spPr>
          <a:xfrm>
            <a:off x="658368" y="2148840"/>
            <a:ext cx="1417320" cy="274320"/>
          </a:xfrm>
          <a:prstGeom prst="rect">
            <a:avLst/>
          </a:prstGeom>
          <a:noFill/>
          <a:ln/>
        </p:spPr>
        <p:txBody>
          <a:bodyPr wrap="square" lIns="0" tIns="0" rIns="0" bIns="0" rtlCol="0" anchor="t"/>
          <a:lstStyle/>
          <a:p>
            <a:pPr indent="0" marL="0">
              <a:buNone/>
            </a:pPr>
            <a:r>
              <a:rPr lang="en-US" sz="1400" b="1" dirty="0">
                <a:solidFill>
                  <a:schemeClr val="tx1"/>
                </a:solidFill>
              </a:rPr>
              <a:t>Ingest &amp; join</a:t>
            </a:r>
            <a:endParaRPr lang="en-US" sz="1400" dirty="0"/>
          </a:p>
        </p:txBody>
      </p:sp>
      <p:sp>
        <p:nvSpPr>
          <p:cNvPr id="8" name="Text 6"/>
          <p:cNvSpPr txBox="1"/>
          <p:nvPr/>
        </p:nvSpPr>
        <p:spPr>
          <a:xfrm>
            <a:off x="658368" y="2450592"/>
            <a:ext cx="1417320" cy="685800"/>
          </a:xfrm>
          <a:prstGeom prst="rect">
            <a:avLst/>
          </a:prstGeom>
          <a:noFill/>
          <a:ln/>
        </p:spPr>
        <p:txBody>
          <a:bodyPr wrap="square" lIns="0" tIns="0" rIns="0" bIns="0" rtlCol="0" anchor="t"/>
          <a:lstStyle/>
          <a:p>
            <a:pPr indent="0" marL="0">
              <a:buNone/>
            </a:pPr>
            <a:r>
              <a:rPr lang="en-US" sz="1150" dirty="0">
                <a:solidFill>
                  <a:srgbClr val="5B6472"/>
                </a:solidFill>
              </a:rPr>
              <a:t>7 CSV exports joined on student ID; gaps filled</a:t>
            </a:r>
            <a:endParaRPr lang="en-US" sz="1150" dirty="0"/>
          </a:p>
        </p:txBody>
      </p:sp>
      <p:sp>
        <p:nvSpPr>
          <p:cNvPr id="9" name="Arrow 1"/>
          <p:cNvSpPr/>
          <p:nvPr/>
        </p:nvSpPr>
        <p:spPr>
          <a:xfrm rot="5400000">
            <a:off x="2350008" y="2212848"/>
            <a:ext cx="146304" cy="201168"/>
          </a:xfrm>
          <a:prstGeom prst="triangle">
            <a:avLst/>
          </a:prstGeom>
          <a:solidFill>
            <a:srgbClr val="AEB4BE"/>
          </a:solidFill>
          <a:ln w="12700">
            <a:solidFill>
              <a:srgbClr val="AEB4BE"/>
            </a:solidFill>
            <a:prstDash val="solid"/>
          </a:ln>
        </p:spPr>
      </p:sp>
      <p:sp>
        <p:nvSpPr>
          <p:cNvPr id="10" name="Step 2"/>
          <p:cNvSpPr/>
          <p:nvPr/>
        </p:nvSpPr>
        <p:spPr>
          <a:xfrm>
            <a:off x="2606040" y="1463040"/>
            <a:ext cx="1783080" cy="1737360"/>
          </a:xfrm>
          <a:prstGeom prst="roundRect">
            <a:avLst>
              <a:gd name="adj" fmla="val 6316"/>
            </a:avLst>
          </a:prstGeom>
          <a:solidFill>
            <a:schemeClr val="bg2"/>
          </a:solidFill>
          <a:ln w="12700">
            <a:solidFill>
              <a:srgbClr val="F3F4F6"/>
            </a:solidFill>
            <a:prstDash val="solid"/>
          </a:ln>
        </p:spPr>
      </p:sp>
      <p:sp>
        <p:nvSpPr>
          <p:cNvPr id="11" name="Shape 9"/>
          <p:cNvSpPr/>
          <p:nvPr/>
        </p:nvSpPr>
        <p:spPr>
          <a:xfrm>
            <a:off x="2807208" y="1664208"/>
            <a:ext cx="365760" cy="365760"/>
          </a:xfrm>
          <a:prstGeom prst="ellipse">
            <a:avLst/>
          </a:prstGeom>
          <a:solidFill>
            <a:schemeClr val="tx1"/>
          </a:solidFill>
          <a:ln w="12700">
            <a:solidFill>
              <a:srgbClr val="0D1117"/>
            </a:solidFill>
            <a:prstDash val="solid"/>
          </a:ln>
        </p:spPr>
      </p:sp>
      <p:sp>
        <p:nvSpPr>
          <p:cNvPr id="12" name="Text 10"/>
          <p:cNvSpPr txBox="1"/>
          <p:nvPr/>
        </p:nvSpPr>
        <p:spPr>
          <a:xfrm>
            <a:off x="2807208" y="1664208"/>
            <a:ext cx="365760" cy="365760"/>
          </a:xfrm>
          <a:prstGeom prst="rect">
            <a:avLst/>
          </a:prstGeom>
          <a:noFill/>
          <a:ln/>
        </p:spPr>
        <p:txBody>
          <a:bodyPr wrap="square" lIns="0" tIns="0" rIns="0" bIns="0" rtlCol="0" anchor="ctr"/>
          <a:lstStyle/>
          <a:p>
            <a:pPr algn="ctr" indent="0" marL="0">
              <a:buNone/>
            </a:pPr>
            <a:r>
              <a:rPr lang="en-US" sz="1300" b="1" dirty="0">
                <a:solidFill>
                  <a:schemeClr val="accent3"/>
                </a:solidFill>
              </a:rPr>
              <a:t>2</a:t>
            </a:r>
            <a:endParaRPr lang="en-US" sz="1300" dirty="0"/>
          </a:p>
        </p:txBody>
      </p:sp>
      <p:sp>
        <p:nvSpPr>
          <p:cNvPr id="13" name="Text 11"/>
          <p:cNvSpPr txBox="1"/>
          <p:nvPr/>
        </p:nvSpPr>
        <p:spPr>
          <a:xfrm>
            <a:off x="2807208" y="2148840"/>
            <a:ext cx="1417320" cy="274320"/>
          </a:xfrm>
          <a:prstGeom prst="rect">
            <a:avLst/>
          </a:prstGeom>
          <a:noFill/>
          <a:ln/>
        </p:spPr>
        <p:txBody>
          <a:bodyPr wrap="square" lIns="0" tIns="0" rIns="0" bIns="0" rtlCol="0" anchor="t"/>
          <a:lstStyle/>
          <a:p>
            <a:pPr indent="0" marL="0">
              <a:buNone/>
            </a:pPr>
            <a:r>
              <a:rPr lang="en-US" sz="1400" b="1" dirty="0">
                <a:solidFill>
                  <a:schemeClr val="tx1"/>
                </a:solidFill>
              </a:rPr>
              <a:t>Score</a:t>
            </a:r>
            <a:endParaRPr lang="en-US" sz="1400" dirty="0"/>
          </a:p>
        </p:txBody>
      </p:sp>
      <p:sp>
        <p:nvSpPr>
          <p:cNvPr id="14" name="Text 12"/>
          <p:cNvSpPr txBox="1"/>
          <p:nvPr/>
        </p:nvSpPr>
        <p:spPr>
          <a:xfrm>
            <a:off x="2807208" y="2450592"/>
            <a:ext cx="1417320" cy="685800"/>
          </a:xfrm>
          <a:prstGeom prst="rect">
            <a:avLst/>
          </a:prstGeom>
          <a:noFill/>
          <a:ln/>
        </p:spPr>
        <p:txBody>
          <a:bodyPr wrap="square" lIns="0" tIns="0" rIns="0" bIns="0" rtlCol="0" anchor="t"/>
          <a:lstStyle/>
          <a:p>
            <a:pPr indent="0" marL="0">
              <a:buNone/>
            </a:pPr>
            <a:r>
              <a:rPr lang="en-US" sz="1150" dirty="0">
                <a:solidFill>
                  <a:srgbClr val="5B6472"/>
                </a:solidFill>
              </a:rPr>
              <a:t>Weighted 0–100 Success Score per student</a:t>
            </a:r>
            <a:endParaRPr lang="en-US" sz="1150" dirty="0"/>
          </a:p>
        </p:txBody>
      </p:sp>
      <p:sp>
        <p:nvSpPr>
          <p:cNvPr id="15" name="Arrow 2"/>
          <p:cNvSpPr/>
          <p:nvPr/>
        </p:nvSpPr>
        <p:spPr>
          <a:xfrm rot="5400000">
            <a:off x="4498848" y="2212848"/>
            <a:ext cx="146304" cy="201168"/>
          </a:xfrm>
          <a:prstGeom prst="triangle">
            <a:avLst/>
          </a:prstGeom>
          <a:solidFill>
            <a:srgbClr val="AEB4BE"/>
          </a:solidFill>
          <a:ln w="12700">
            <a:solidFill>
              <a:srgbClr val="AEB4BE"/>
            </a:solidFill>
            <a:prstDash val="solid"/>
          </a:ln>
        </p:spPr>
      </p:sp>
      <p:sp>
        <p:nvSpPr>
          <p:cNvPr id="16" name="Step 3"/>
          <p:cNvSpPr/>
          <p:nvPr/>
        </p:nvSpPr>
        <p:spPr>
          <a:xfrm>
            <a:off x="4754880" y="1463040"/>
            <a:ext cx="1783080" cy="1737360"/>
          </a:xfrm>
          <a:prstGeom prst="roundRect">
            <a:avLst>
              <a:gd name="adj" fmla="val 6316"/>
            </a:avLst>
          </a:prstGeom>
          <a:solidFill>
            <a:schemeClr val="bg2"/>
          </a:solidFill>
          <a:ln w="12700">
            <a:solidFill>
              <a:srgbClr val="F3F4F6"/>
            </a:solidFill>
            <a:prstDash val="solid"/>
          </a:ln>
        </p:spPr>
      </p:sp>
      <p:sp>
        <p:nvSpPr>
          <p:cNvPr id="17" name="Shape 15"/>
          <p:cNvSpPr/>
          <p:nvPr/>
        </p:nvSpPr>
        <p:spPr>
          <a:xfrm>
            <a:off x="4956048" y="1664208"/>
            <a:ext cx="365760" cy="365760"/>
          </a:xfrm>
          <a:prstGeom prst="ellipse">
            <a:avLst/>
          </a:prstGeom>
          <a:solidFill>
            <a:schemeClr val="tx1"/>
          </a:solidFill>
          <a:ln w="12700">
            <a:solidFill>
              <a:srgbClr val="0D1117"/>
            </a:solidFill>
            <a:prstDash val="solid"/>
          </a:ln>
        </p:spPr>
      </p:sp>
      <p:sp>
        <p:nvSpPr>
          <p:cNvPr id="18" name="Text 16"/>
          <p:cNvSpPr txBox="1"/>
          <p:nvPr/>
        </p:nvSpPr>
        <p:spPr>
          <a:xfrm>
            <a:off x="4956048" y="1664208"/>
            <a:ext cx="365760" cy="365760"/>
          </a:xfrm>
          <a:prstGeom prst="rect">
            <a:avLst/>
          </a:prstGeom>
          <a:noFill/>
          <a:ln/>
        </p:spPr>
        <p:txBody>
          <a:bodyPr wrap="square" lIns="0" tIns="0" rIns="0" bIns="0" rtlCol="0" anchor="ctr"/>
          <a:lstStyle/>
          <a:p>
            <a:pPr algn="ctr" indent="0" marL="0">
              <a:buNone/>
            </a:pPr>
            <a:r>
              <a:rPr lang="en-US" sz="1300" b="1" dirty="0">
                <a:solidFill>
                  <a:schemeClr val="accent3"/>
                </a:solidFill>
              </a:rPr>
              <a:t>3</a:t>
            </a:r>
            <a:endParaRPr lang="en-US" sz="1300" dirty="0"/>
          </a:p>
        </p:txBody>
      </p:sp>
      <p:sp>
        <p:nvSpPr>
          <p:cNvPr id="19" name="Text 17"/>
          <p:cNvSpPr txBox="1"/>
          <p:nvPr/>
        </p:nvSpPr>
        <p:spPr>
          <a:xfrm>
            <a:off x="4956048" y="2148840"/>
            <a:ext cx="1417320" cy="274320"/>
          </a:xfrm>
          <a:prstGeom prst="rect">
            <a:avLst/>
          </a:prstGeom>
          <a:noFill/>
          <a:ln/>
        </p:spPr>
        <p:txBody>
          <a:bodyPr wrap="square" lIns="0" tIns="0" rIns="0" bIns="0" rtlCol="0" anchor="t"/>
          <a:lstStyle/>
          <a:p>
            <a:pPr indent="0" marL="0">
              <a:buNone/>
            </a:pPr>
            <a:r>
              <a:rPr lang="en-US" sz="1400" b="1" dirty="0">
                <a:solidFill>
                  <a:schemeClr val="tx1"/>
                </a:solidFill>
              </a:rPr>
              <a:t>Flag &amp; predict</a:t>
            </a:r>
            <a:endParaRPr lang="en-US" sz="1400" dirty="0"/>
          </a:p>
        </p:txBody>
      </p:sp>
      <p:sp>
        <p:nvSpPr>
          <p:cNvPr id="20" name="Text 18"/>
          <p:cNvSpPr txBox="1"/>
          <p:nvPr/>
        </p:nvSpPr>
        <p:spPr>
          <a:xfrm>
            <a:off x="4956048" y="2450592"/>
            <a:ext cx="1417320" cy="685800"/>
          </a:xfrm>
          <a:prstGeom prst="rect">
            <a:avLst/>
          </a:prstGeom>
          <a:noFill/>
          <a:ln/>
        </p:spPr>
        <p:txBody>
          <a:bodyPr wrap="square" lIns="0" tIns="0" rIns="0" bIns="0" rtlCol="0" anchor="t"/>
          <a:lstStyle/>
          <a:p>
            <a:pPr indent="0" marL="0">
              <a:buNone/>
            </a:pPr>
            <a:r>
              <a:rPr lang="en-US" sz="1150" dirty="0">
                <a:solidFill>
                  <a:srgbClr val="5B6472"/>
                </a:solidFill>
              </a:rPr>
              <a:t>Academic and placement risk points, plus Random Forest placement odds</a:t>
            </a:r>
            <a:endParaRPr lang="en-US" sz="1150" dirty="0"/>
          </a:p>
        </p:txBody>
      </p:sp>
      <p:sp>
        <p:nvSpPr>
          <p:cNvPr id="21" name="Arrow 3"/>
          <p:cNvSpPr/>
          <p:nvPr/>
        </p:nvSpPr>
        <p:spPr>
          <a:xfrm rot="5400000">
            <a:off x="6647688" y="2212848"/>
            <a:ext cx="146304" cy="201168"/>
          </a:xfrm>
          <a:prstGeom prst="triangle">
            <a:avLst/>
          </a:prstGeom>
          <a:solidFill>
            <a:srgbClr val="AEB4BE"/>
          </a:solidFill>
          <a:ln w="12700">
            <a:solidFill>
              <a:srgbClr val="AEB4BE"/>
            </a:solidFill>
            <a:prstDash val="solid"/>
          </a:ln>
        </p:spPr>
      </p:sp>
      <p:sp>
        <p:nvSpPr>
          <p:cNvPr id="22" name="Step 4"/>
          <p:cNvSpPr/>
          <p:nvPr/>
        </p:nvSpPr>
        <p:spPr>
          <a:xfrm>
            <a:off x="6903720" y="1463040"/>
            <a:ext cx="1783080" cy="1737360"/>
          </a:xfrm>
          <a:prstGeom prst="roundRect">
            <a:avLst>
              <a:gd name="adj" fmla="val 6316"/>
            </a:avLst>
          </a:prstGeom>
          <a:solidFill>
            <a:schemeClr val="bg2"/>
          </a:solidFill>
          <a:ln w="12700">
            <a:solidFill>
              <a:srgbClr val="F3F4F6"/>
            </a:solidFill>
            <a:prstDash val="solid"/>
          </a:ln>
        </p:spPr>
      </p:sp>
      <p:sp>
        <p:nvSpPr>
          <p:cNvPr id="23" name="Shape 21"/>
          <p:cNvSpPr/>
          <p:nvPr/>
        </p:nvSpPr>
        <p:spPr>
          <a:xfrm>
            <a:off x="7104888" y="1664208"/>
            <a:ext cx="365760" cy="365760"/>
          </a:xfrm>
          <a:prstGeom prst="ellipse">
            <a:avLst/>
          </a:prstGeom>
          <a:solidFill>
            <a:schemeClr val="tx1"/>
          </a:solidFill>
          <a:ln w="12700">
            <a:solidFill>
              <a:srgbClr val="0D1117"/>
            </a:solidFill>
            <a:prstDash val="solid"/>
          </a:ln>
        </p:spPr>
      </p:sp>
      <p:sp>
        <p:nvSpPr>
          <p:cNvPr id="24" name="Text 22"/>
          <p:cNvSpPr txBox="1"/>
          <p:nvPr/>
        </p:nvSpPr>
        <p:spPr>
          <a:xfrm>
            <a:off x="7104888" y="1664208"/>
            <a:ext cx="365760" cy="365760"/>
          </a:xfrm>
          <a:prstGeom prst="rect">
            <a:avLst/>
          </a:prstGeom>
          <a:noFill/>
          <a:ln/>
        </p:spPr>
        <p:txBody>
          <a:bodyPr wrap="square" lIns="0" tIns="0" rIns="0" bIns="0" rtlCol="0" anchor="ctr"/>
          <a:lstStyle/>
          <a:p>
            <a:pPr algn="ctr" indent="0" marL="0">
              <a:buNone/>
            </a:pPr>
            <a:r>
              <a:rPr lang="en-US" sz="1300" b="1" dirty="0">
                <a:solidFill>
                  <a:schemeClr val="accent3"/>
                </a:solidFill>
              </a:rPr>
              <a:t>4</a:t>
            </a:r>
            <a:endParaRPr lang="en-US" sz="1300" dirty="0"/>
          </a:p>
        </p:txBody>
      </p:sp>
      <p:sp>
        <p:nvSpPr>
          <p:cNvPr id="25" name="Text 23"/>
          <p:cNvSpPr txBox="1"/>
          <p:nvPr/>
        </p:nvSpPr>
        <p:spPr>
          <a:xfrm>
            <a:off x="7104888" y="2148840"/>
            <a:ext cx="1417320" cy="274320"/>
          </a:xfrm>
          <a:prstGeom prst="rect">
            <a:avLst/>
          </a:prstGeom>
          <a:noFill/>
          <a:ln/>
        </p:spPr>
        <p:txBody>
          <a:bodyPr wrap="square" lIns="0" tIns="0" rIns="0" bIns="0" rtlCol="0" anchor="t"/>
          <a:lstStyle/>
          <a:p>
            <a:pPr indent="0" marL="0">
              <a:buNone/>
            </a:pPr>
            <a:r>
              <a:rPr lang="en-US" sz="1400" b="1" dirty="0">
                <a:solidFill>
                  <a:schemeClr val="tx1"/>
                </a:solidFill>
              </a:rPr>
              <a:t>Segment</a:t>
            </a:r>
            <a:endParaRPr lang="en-US" sz="1400" dirty="0"/>
          </a:p>
        </p:txBody>
      </p:sp>
      <p:sp>
        <p:nvSpPr>
          <p:cNvPr id="26" name="Text 24"/>
          <p:cNvSpPr txBox="1"/>
          <p:nvPr/>
        </p:nvSpPr>
        <p:spPr>
          <a:xfrm>
            <a:off x="7104888" y="2450592"/>
            <a:ext cx="1417320" cy="685800"/>
          </a:xfrm>
          <a:prstGeom prst="rect">
            <a:avLst/>
          </a:prstGeom>
          <a:noFill/>
          <a:ln/>
        </p:spPr>
        <p:txBody>
          <a:bodyPr wrap="square" lIns="0" tIns="0" rIns="0" bIns="0" rtlCol="0" anchor="t"/>
          <a:lstStyle/>
          <a:p>
            <a:pPr indent="0" marL="0">
              <a:buNone/>
            </a:pPr>
            <a:r>
              <a:rPr lang="en-US" sz="1150" dirty="0">
                <a:solidFill>
                  <a:srgbClr val="5B6472"/>
                </a:solidFill>
              </a:rPr>
              <a:t>K-means groups students into 6 segments for group action</a:t>
            </a:r>
            <a:endParaRPr lang="en-US" sz="1150" dirty="0"/>
          </a:p>
        </p:txBody>
      </p:sp>
      <p:sp>
        <p:nvSpPr>
          <p:cNvPr id="27" name="Stack 1"/>
          <p:cNvSpPr/>
          <p:nvPr/>
        </p:nvSpPr>
        <p:spPr>
          <a:xfrm>
            <a:off x="457200" y="3520440"/>
            <a:ext cx="2606040" cy="777240"/>
          </a:xfrm>
          <a:prstGeom prst="roundRect">
            <a:avLst>
              <a:gd name="adj" fmla="val 14118"/>
            </a:avLst>
          </a:prstGeom>
          <a:solidFill>
            <a:schemeClr val="tx1"/>
          </a:solidFill>
          <a:ln w="12700">
            <a:solidFill>
              <a:srgbClr val="0D1117"/>
            </a:solidFill>
            <a:prstDash val="solid"/>
          </a:ln>
        </p:spPr>
      </p:sp>
      <p:sp>
        <p:nvSpPr>
          <p:cNvPr id="28" name="Text 26"/>
          <p:cNvSpPr txBox="1"/>
          <p:nvPr/>
        </p:nvSpPr>
        <p:spPr>
          <a:xfrm>
            <a:off x="685800" y="3657600"/>
            <a:ext cx="2148840" cy="201168"/>
          </a:xfrm>
          <a:prstGeom prst="rect">
            <a:avLst/>
          </a:prstGeom>
          <a:noFill/>
          <a:ln/>
        </p:spPr>
        <p:txBody>
          <a:bodyPr wrap="square" lIns="0" tIns="0" rIns="0" bIns="0" rtlCol="0" anchor="t"/>
          <a:lstStyle/>
          <a:p>
            <a:pPr indent="0" marL="0">
              <a:buNone/>
            </a:pPr>
            <a:r>
              <a:rPr lang="en-US" sz="1000" b="1" spc="100" kern="0" dirty="0">
                <a:solidFill>
                  <a:schemeClr val="accent3"/>
                </a:solidFill>
              </a:rPr>
              <a:t>FRONTEND</a:t>
            </a:r>
            <a:endParaRPr lang="en-US" sz="1000" dirty="0"/>
          </a:p>
        </p:txBody>
      </p:sp>
      <p:sp>
        <p:nvSpPr>
          <p:cNvPr id="29" name="Text 27"/>
          <p:cNvSpPr txBox="1"/>
          <p:nvPr/>
        </p:nvSpPr>
        <p:spPr>
          <a:xfrm>
            <a:off x="685800" y="3904488"/>
            <a:ext cx="2148840" cy="274320"/>
          </a:xfrm>
          <a:prstGeom prst="rect">
            <a:avLst/>
          </a:prstGeom>
          <a:noFill/>
          <a:ln/>
        </p:spPr>
        <p:txBody>
          <a:bodyPr wrap="square" lIns="0" tIns="0" rIns="0" bIns="0" rtlCol="0" anchor="t"/>
          <a:lstStyle/>
          <a:p>
            <a:pPr indent="0" marL="0">
              <a:buNone/>
            </a:pPr>
            <a:r>
              <a:rPr lang="en-US" sz="1300" dirty="0">
                <a:solidFill>
                  <a:schemeClr val="bg1"/>
                </a:solidFill>
              </a:rPr>
              <a:t>Next.js · Tailwind CSS</a:t>
            </a:r>
            <a:endParaRPr lang="en-US" sz="1300" dirty="0"/>
          </a:p>
        </p:txBody>
      </p:sp>
      <p:sp>
        <p:nvSpPr>
          <p:cNvPr id="30" name="Stack 2"/>
          <p:cNvSpPr/>
          <p:nvPr/>
        </p:nvSpPr>
        <p:spPr>
          <a:xfrm>
            <a:off x="3246120" y="3520440"/>
            <a:ext cx="2606040" cy="777240"/>
          </a:xfrm>
          <a:prstGeom prst="roundRect">
            <a:avLst>
              <a:gd name="adj" fmla="val 14118"/>
            </a:avLst>
          </a:prstGeom>
          <a:solidFill>
            <a:schemeClr val="tx1"/>
          </a:solidFill>
          <a:ln w="12700">
            <a:solidFill>
              <a:srgbClr val="0D1117"/>
            </a:solidFill>
            <a:prstDash val="solid"/>
          </a:ln>
        </p:spPr>
      </p:sp>
      <p:sp>
        <p:nvSpPr>
          <p:cNvPr id="31" name="Text 29"/>
          <p:cNvSpPr txBox="1"/>
          <p:nvPr/>
        </p:nvSpPr>
        <p:spPr>
          <a:xfrm>
            <a:off x="3474720" y="3657600"/>
            <a:ext cx="2148840" cy="201168"/>
          </a:xfrm>
          <a:prstGeom prst="rect">
            <a:avLst/>
          </a:prstGeom>
          <a:noFill/>
          <a:ln/>
        </p:spPr>
        <p:txBody>
          <a:bodyPr wrap="square" lIns="0" tIns="0" rIns="0" bIns="0" rtlCol="0" anchor="t"/>
          <a:lstStyle/>
          <a:p>
            <a:pPr indent="0" marL="0">
              <a:buNone/>
            </a:pPr>
            <a:r>
              <a:rPr lang="en-US" sz="1000" b="1" spc="100" kern="0" dirty="0">
                <a:solidFill>
                  <a:schemeClr val="accent3"/>
                </a:solidFill>
              </a:rPr>
              <a:t>BACKEND</a:t>
            </a:r>
            <a:endParaRPr lang="en-US" sz="1000" dirty="0"/>
          </a:p>
        </p:txBody>
      </p:sp>
      <p:sp>
        <p:nvSpPr>
          <p:cNvPr id="32" name="Text 30"/>
          <p:cNvSpPr txBox="1"/>
          <p:nvPr/>
        </p:nvSpPr>
        <p:spPr>
          <a:xfrm>
            <a:off x="3474720" y="3904488"/>
            <a:ext cx="2148840" cy="274320"/>
          </a:xfrm>
          <a:prstGeom prst="rect">
            <a:avLst/>
          </a:prstGeom>
          <a:noFill/>
          <a:ln/>
        </p:spPr>
        <p:txBody>
          <a:bodyPr wrap="square" lIns="0" tIns="0" rIns="0" bIns="0" rtlCol="0" anchor="t"/>
          <a:lstStyle/>
          <a:p>
            <a:pPr indent="0" marL="0">
              <a:buNone/>
            </a:pPr>
            <a:r>
              <a:rPr lang="en-US" sz="1300" dirty="0">
                <a:solidFill>
                  <a:schemeClr val="bg1"/>
                </a:solidFill>
              </a:rPr>
              <a:t>FastAPI · pandas · scikit-learn</a:t>
            </a:r>
            <a:endParaRPr lang="en-US" sz="1300" dirty="0"/>
          </a:p>
        </p:txBody>
      </p:sp>
      <p:sp>
        <p:nvSpPr>
          <p:cNvPr id="33" name="Stack 3"/>
          <p:cNvSpPr/>
          <p:nvPr/>
        </p:nvSpPr>
        <p:spPr>
          <a:xfrm>
            <a:off x="6035040" y="3520440"/>
            <a:ext cx="2606040" cy="777240"/>
          </a:xfrm>
          <a:prstGeom prst="roundRect">
            <a:avLst>
              <a:gd name="adj" fmla="val 14118"/>
            </a:avLst>
          </a:prstGeom>
          <a:solidFill>
            <a:schemeClr val="tx1"/>
          </a:solidFill>
          <a:ln w="12700">
            <a:solidFill>
              <a:srgbClr val="0D1117"/>
            </a:solidFill>
            <a:prstDash val="solid"/>
          </a:ln>
        </p:spPr>
      </p:sp>
      <p:sp>
        <p:nvSpPr>
          <p:cNvPr id="34" name="Text 32"/>
          <p:cNvSpPr txBox="1"/>
          <p:nvPr/>
        </p:nvSpPr>
        <p:spPr>
          <a:xfrm>
            <a:off x="6263640" y="3657600"/>
            <a:ext cx="2148840" cy="201168"/>
          </a:xfrm>
          <a:prstGeom prst="rect">
            <a:avLst/>
          </a:prstGeom>
          <a:noFill/>
          <a:ln/>
        </p:spPr>
        <p:txBody>
          <a:bodyPr wrap="square" lIns="0" tIns="0" rIns="0" bIns="0" rtlCol="0" anchor="t"/>
          <a:lstStyle/>
          <a:p>
            <a:pPr indent="0" marL="0">
              <a:buNone/>
            </a:pPr>
            <a:r>
              <a:rPr lang="en-US" sz="1000" b="1" spc="100" kern="0" dirty="0">
                <a:solidFill>
                  <a:schemeClr val="accent3"/>
                </a:solidFill>
              </a:rPr>
              <a:t>HOSTING</a:t>
            </a:r>
            <a:endParaRPr lang="en-US" sz="1000" dirty="0"/>
          </a:p>
        </p:txBody>
      </p:sp>
      <p:sp>
        <p:nvSpPr>
          <p:cNvPr id="35" name="Text 33"/>
          <p:cNvSpPr txBox="1"/>
          <p:nvPr/>
        </p:nvSpPr>
        <p:spPr>
          <a:xfrm>
            <a:off x="6263640" y="3904488"/>
            <a:ext cx="2148840" cy="274320"/>
          </a:xfrm>
          <a:prstGeom prst="rect">
            <a:avLst/>
          </a:prstGeom>
          <a:noFill/>
          <a:ln/>
        </p:spPr>
        <p:txBody>
          <a:bodyPr wrap="square" lIns="0" tIns="0" rIns="0" bIns="0" rtlCol="0" anchor="t"/>
          <a:lstStyle/>
          <a:p>
            <a:pPr indent="0" marL="0">
              <a:buNone/>
            </a:pPr>
            <a:r>
              <a:rPr lang="en-US" sz="1300" dirty="0">
                <a:solidFill>
                  <a:schemeClr val="bg1"/>
                </a:solidFill>
              </a:rPr>
              <a:t>Railway (web + API)</a:t>
            </a:r>
            <a:endParaRPr lang="en-US" sz="1300" dirty="0"/>
          </a:p>
        </p:txBody>
      </p:sp>
      <p:sp>
        <p:nvSpPr>
          <p:cNvPr id="25" name="Slide Number Placeholder 0"/>
          <p:cNvSpPr>
            <a:spLocks noGrp="1"/>
          </p:cNvSpPr>
          <p:nvPr>
            <p:ph type="sldNum" sz="quarter" idx="4294967295"/>
          </p:nvPr>
        </p:nvSpPr>
        <p:spPr>
          <a:xfrm>
            <a:off x="8321040" y="4700016"/>
            <a:ext cx="36576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8A929E"/>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457200" y="320040"/>
            <a:ext cx="8229600" cy="256032"/>
          </a:xfrm>
          <a:prstGeom prst="rect">
            <a:avLst/>
          </a:prstGeom>
          <a:noFill/>
          <a:ln/>
        </p:spPr>
        <p:txBody>
          <a:bodyPr wrap="square" lIns="0" tIns="0" rIns="0" bIns="0" rtlCol="0" anchor="t"/>
          <a:lstStyle/>
          <a:p>
            <a:pPr indent="0" marL="0">
              <a:buNone/>
            </a:pPr>
            <a:r>
              <a:rPr lang="en-US" sz="1100" b="1" spc="150" kern="0" dirty="0">
                <a:solidFill>
                  <a:schemeClr val="accent1"/>
                </a:solidFill>
              </a:rPr>
              <a:t>MENTOR WORKFLOW</a:t>
            </a:r>
            <a:endParaRPr lang="en-US" sz="1100" dirty="0"/>
          </a:p>
        </p:txBody>
      </p:sp>
      <p:sp>
        <p:nvSpPr>
          <p:cNvPr id="3" name="Text 1"/>
          <p:cNvSpPr/>
          <p:nvPr>
            <p:ph idx="103" type="title" hasCustomPrompt="1"/>
          </p:nvPr>
        </p:nvSpPr>
        <p:spPr>
          <a:xfrm>
            <a:off x="457200" y="566928"/>
            <a:ext cx="8229600" cy="566928"/>
          </a:xfrm>
          <a:prstGeom prst="rect">
            <a:avLst/>
          </a:prstGeom>
          <a:noFill/>
          <a:ln/>
        </p:spPr>
        <p:txBody>
          <a:bodyPr wrap="square" lIns="0" tIns="0" rIns="0" bIns="0" rtlCol="0" anchor="t"/>
          <a:lstStyle/>
          <a:p>
            <a:pPr algn="l" indent="0" marL="0">
              <a:buNone/>
            </a:pPr>
            <a:r>
              <a:rPr lang="en-US" sz="2600" b="1" dirty="0">
                <a:solidFill>
                  <a:schemeClr val="tx1"/>
                </a:solidFill>
                <a:latin typeface="Arial" pitchFamily="34" charset="0"/>
                <a:ea typeface="Arial" pitchFamily="34" charset="-122"/>
                <a:cs typeface="Arial" pitchFamily="34" charset="-120"/>
              </a:rPr>
              <a:t>Built for mentors to act, not just look</a:t>
            </a:r>
            <a:endParaRPr lang="en-US" sz="2600" dirty="0"/>
          </a:p>
        </p:txBody>
      </p:sp>
      <p:graphicFrame>
        <p:nvGraphicFramePr>
          <p:cNvPr id="4" name="Department risk chart" descr=""/>
          <p:cNvGraphicFramePr/>
          <p:nvPr/>
        </p:nvGraphicFramePr>
        <p:xfrm>
          <a:off x="365760" y="1325880"/>
          <a:ext cx="4297680" cy="3108960"/>
        </p:xfrm>
        <a:graphic xmlns:a="http://schemas.openxmlformats.org/drawingml/2006/main">
          <a:graphicData uri="http://schemas.openxmlformats.org/drawingml/2006/chart">
            <c:chart xmlns:c="http://schemas.openxmlformats.org/drawingml/2006/chart" r:id="rId1"/>
          </a:graphicData>
        </a:graphic>
      </p:graphicFrame>
      <p:sp>
        <p:nvSpPr>
          <p:cNvPr id="5" name="Feature icon bg 1"/>
          <p:cNvSpPr/>
          <p:nvPr/>
        </p:nvSpPr>
        <p:spPr>
          <a:xfrm>
            <a:off x="5029200" y="1463040"/>
            <a:ext cx="457200" cy="457200"/>
          </a:xfrm>
          <a:prstGeom prst="ellipse">
            <a:avLst/>
          </a:prstGeom>
          <a:solidFill>
            <a:schemeClr val="tx1"/>
          </a:solidFill>
          <a:ln w="12700">
            <a:solidFill>
              <a:srgbClr val="0D1117"/>
            </a:solidFill>
            <a:prstDash val="solid"/>
          </a:ln>
        </p:spPr>
      </p:sp>
      <p:pic>
        <p:nvPicPr>
          <p:cNvPr id="6" name="Feature icon 1" descr="preencoded.png">    </p:cNvPr>
          <p:cNvPicPr>
            <a:picLocks noChangeAspect="1"/>
          </p:cNvPicPr>
          <p:nvPr/>
        </p:nvPicPr>
        <p:blipFill>
          <a:blip r:embed="rId2"/>
          <a:stretch>
            <a:fillRect/>
          </a:stretch>
        </p:blipFill>
        <p:spPr>
          <a:xfrm>
            <a:off x="5138928" y="1572768"/>
            <a:ext cx="237744" cy="237744"/>
          </a:xfrm>
          <a:prstGeom prst="rect">
            <a:avLst/>
          </a:prstGeom>
        </p:spPr>
      </p:pic>
      <p:sp>
        <p:nvSpPr>
          <p:cNvPr id="7" name="Text 3"/>
          <p:cNvSpPr txBox="1"/>
          <p:nvPr/>
        </p:nvSpPr>
        <p:spPr>
          <a:xfrm>
            <a:off x="5669280" y="1444752"/>
            <a:ext cx="3017520" cy="256032"/>
          </a:xfrm>
          <a:prstGeom prst="rect">
            <a:avLst/>
          </a:prstGeom>
          <a:noFill/>
          <a:ln/>
        </p:spPr>
        <p:txBody>
          <a:bodyPr wrap="square" lIns="0" tIns="0" rIns="0" bIns="0" rtlCol="0" anchor="t"/>
          <a:lstStyle/>
          <a:p>
            <a:pPr indent="0" marL="0">
              <a:buNone/>
            </a:pPr>
            <a:r>
              <a:rPr lang="en-US" sz="1400" b="1" dirty="0">
                <a:solidFill>
                  <a:schemeClr val="tx1"/>
                </a:solidFill>
              </a:rPr>
              <a:t>Ctrl + K search</a:t>
            </a:r>
            <a:endParaRPr lang="en-US" sz="1400" dirty="0"/>
          </a:p>
        </p:txBody>
      </p:sp>
      <p:sp>
        <p:nvSpPr>
          <p:cNvPr id="8" name="Text 4"/>
          <p:cNvSpPr txBox="1"/>
          <p:nvPr/>
        </p:nvSpPr>
        <p:spPr>
          <a:xfrm>
            <a:off x="5669280" y="1719072"/>
            <a:ext cx="3017520" cy="548640"/>
          </a:xfrm>
          <a:prstGeom prst="rect">
            <a:avLst/>
          </a:prstGeom>
          <a:noFill/>
          <a:ln/>
        </p:spPr>
        <p:txBody>
          <a:bodyPr wrap="square" lIns="0" tIns="0" rIns="0" bIns="0" rtlCol="0" anchor="t"/>
          <a:lstStyle/>
          <a:p>
            <a:pPr indent="0" marL="0">
              <a:buNone/>
            </a:pPr>
            <a:r>
              <a:rPr lang="en-US" sz="1200" dirty="0">
                <a:solidFill>
                  <a:srgbClr val="5B6472"/>
                </a:solidFill>
              </a:rPr>
              <a:t>Jump to any student's profile, risk reasons and history.</a:t>
            </a:r>
            <a:endParaRPr lang="en-US" sz="1200" dirty="0"/>
          </a:p>
        </p:txBody>
      </p:sp>
      <p:sp>
        <p:nvSpPr>
          <p:cNvPr id="9" name="Feature icon bg 2"/>
          <p:cNvSpPr/>
          <p:nvPr/>
        </p:nvSpPr>
        <p:spPr>
          <a:xfrm>
            <a:off x="5029200" y="2450592"/>
            <a:ext cx="457200" cy="457200"/>
          </a:xfrm>
          <a:prstGeom prst="ellipse">
            <a:avLst/>
          </a:prstGeom>
          <a:solidFill>
            <a:schemeClr val="tx1"/>
          </a:solidFill>
          <a:ln w="12700">
            <a:solidFill>
              <a:srgbClr val="0D1117"/>
            </a:solidFill>
            <a:prstDash val="solid"/>
          </a:ln>
        </p:spPr>
      </p:sp>
      <p:pic>
        <p:nvPicPr>
          <p:cNvPr id="10" name="Feature icon 2" descr="preencoded.png">    </p:cNvPr>
          <p:cNvPicPr>
            <a:picLocks noChangeAspect="1"/>
          </p:cNvPicPr>
          <p:nvPr/>
        </p:nvPicPr>
        <p:blipFill>
          <a:blip r:embed="rId3"/>
          <a:stretch>
            <a:fillRect/>
          </a:stretch>
        </p:blipFill>
        <p:spPr>
          <a:xfrm>
            <a:off x="5138928" y="2560320"/>
            <a:ext cx="237744" cy="237744"/>
          </a:xfrm>
          <a:prstGeom prst="rect">
            <a:avLst/>
          </a:prstGeom>
        </p:spPr>
      </p:pic>
      <p:sp>
        <p:nvSpPr>
          <p:cNvPr id="11" name="Text 6"/>
          <p:cNvSpPr txBox="1"/>
          <p:nvPr/>
        </p:nvSpPr>
        <p:spPr>
          <a:xfrm>
            <a:off x="5669280" y="2432304"/>
            <a:ext cx="3017520" cy="256032"/>
          </a:xfrm>
          <a:prstGeom prst="rect">
            <a:avLst/>
          </a:prstGeom>
          <a:noFill/>
          <a:ln/>
        </p:spPr>
        <p:txBody>
          <a:bodyPr wrap="square" lIns="0" tIns="0" rIns="0" bIns="0" rtlCol="0" anchor="t"/>
          <a:lstStyle/>
          <a:p>
            <a:pPr indent="0" marL="0">
              <a:buNone/>
            </a:pPr>
            <a:r>
              <a:rPr lang="en-US" sz="1400" b="1" dirty="0">
                <a:solidFill>
                  <a:schemeClr val="tx1"/>
                </a:solidFill>
              </a:rPr>
              <a:t>Act on a whole segment</a:t>
            </a:r>
            <a:endParaRPr lang="en-US" sz="1400" dirty="0"/>
          </a:p>
        </p:txBody>
      </p:sp>
      <p:sp>
        <p:nvSpPr>
          <p:cNvPr id="12" name="Text 7"/>
          <p:cNvSpPr txBox="1"/>
          <p:nvPr/>
        </p:nvSpPr>
        <p:spPr>
          <a:xfrm>
            <a:off x="5669280" y="2706624"/>
            <a:ext cx="3017520" cy="548640"/>
          </a:xfrm>
          <a:prstGeom prst="rect">
            <a:avLst/>
          </a:prstGeom>
          <a:noFill/>
          <a:ln/>
        </p:spPr>
        <p:txBody>
          <a:bodyPr wrap="square" lIns="0" tIns="0" rIns="0" bIns="0" rtlCol="0" anchor="t"/>
          <a:lstStyle/>
          <a:p>
            <a:pPr indent="0" marL="0">
              <a:buNone/>
            </a:pPr>
            <a:r>
              <a:rPr lang="en-US" sz="1200" dirty="0">
                <a:solidFill>
                  <a:srgbClr val="5B6472"/>
                </a:solidFill>
              </a:rPr>
              <a:t>179 students with high grades but low placement readiness get one bootcamp, not 179 chats.</a:t>
            </a:r>
            <a:endParaRPr lang="en-US" sz="1200" dirty="0"/>
          </a:p>
        </p:txBody>
      </p:sp>
      <p:sp>
        <p:nvSpPr>
          <p:cNvPr id="13" name="Feature icon bg 3"/>
          <p:cNvSpPr/>
          <p:nvPr/>
        </p:nvSpPr>
        <p:spPr>
          <a:xfrm>
            <a:off x="5029200" y="3438144"/>
            <a:ext cx="457200" cy="457200"/>
          </a:xfrm>
          <a:prstGeom prst="ellipse">
            <a:avLst/>
          </a:prstGeom>
          <a:solidFill>
            <a:schemeClr val="tx1"/>
          </a:solidFill>
          <a:ln w="12700">
            <a:solidFill>
              <a:srgbClr val="0D1117"/>
            </a:solidFill>
            <a:prstDash val="solid"/>
          </a:ln>
        </p:spPr>
      </p:sp>
      <p:pic>
        <p:nvPicPr>
          <p:cNvPr id="14" name="Feature icon 3" descr="preencoded.png">    </p:cNvPr>
          <p:cNvPicPr>
            <a:picLocks noChangeAspect="1"/>
          </p:cNvPicPr>
          <p:nvPr/>
        </p:nvPicPr>
        <p:blipFill>
          <a:blip r:embed="rId4"/>
          <a:stretch>
            <a:fillRect/>
          </a:stretch>
        </p:blipFill>
        <p:spPr>
          <a:xfrm>
            <a:off x="5138928" y="3547872"/>
            <a:ext cx="237744" cy="237744"/>
          </a:xfrm>
          <a:prstGeom prst="rect">
            <a:avLst/>
          </a:prstGeom>
        </p:spPr>
      </p:pic>
      <p:sp>
        <p:nvSpPr>
          <p:cNvPr id="15" name="Text 9"/>
          <p:cNvSpPr txBox="1"/>
          <p:nvPr/>
        </p:nvSpPr>
        <p:spPr>
          <a:xfrm>
            <a:off x="5669280" y="3419856"/>
            <a:ext cx="3017520" cy="256032"/>
          </a:xfrm>
          <a:prstGeom prst="rect">
            <a:avLst/>
          </a:prstGeom>
          <a:noFill/>
          <a:ln/>
        </p:spPr>
        <p:txBody>
          <a:bodyPr wrap="square" lIns="0" tIns="0" rIns="0" bIns="0" rtlCol="0" anchor="t"/>
          <a:lstStyle/>
          <a:p>
            <a:pPr indent="0" marL="0">
              <a:buNone/>
            </a:pPr>
            <a:r>
              <a:rPr lang="en-US" sz="1400" b="1" dirty="0">
                <a:solidFill>
                  <a:schemeClr val="tx1"/>
                </a:solidFill>
              </a:rPr>
              <a:t>Assign and track follow-ups</a:t>
            </a:r>
            <a:endParaRPr lang="en-US" sz="1400" dirty="0"/>
          </a:p>
        </p:txBody>
      </p:sp>
      <p:sp>
        <p:nvSpPr>
          <p:cNvPr id="16" name="Text 10"/>
          <p:cNvSpPr txBox="1"/>
          <p:nvPr/>
        </p:nvSpPr>
        <p:spPr>
          <a:xfrm>
            <a:off x="5669280" y="3694176"/>
            <a:ext cx="3017520" cy="548640"/>
          </a:xfrm>
          <a:prstGeom prst="rect">
            <a:avLst/>
          </a:prstGeom>
          <a:noFill/>
          <a:ln/>
        </p:spPr>
        <p:txBody>
          <a:bodyPr wrap="square" lIns="0" tIns="0" rIns="0" bIns="0" rtlCol="0" anchor="t"/>
          <a:lstStyle/>
          <a:p>
            <a:pPr indent="0" marL="0">
              <a:buNone/>
            </a:pPr>
            <a:r>
              <a:rPr lang="en-US" sz="1200" dirty="0">
                <a:solidFill>
                  <a:srgbClr val="5B6472"/>
                </a:solidFill>
              </a:rPr>
              <a:t>One click from a profile, tracked from suggested to completed.</a:t>
            </a:r>
            <a:endParaRPr lang="en-US" sz="1200" dirty="0"/>
          </a:p>
        </p:txBody>
      </p:sp>
      <p:sp>
        <p:nvSpPr>
          <p:cNvPr id="25" name="Slide Number Placeholder 0"/>
          <p:cNvSpPr>
            <a:spLocks noGrp="1"/>
          </p:cNvSpPr>
          <p:nvPr>
            <p:ph type="sldNum" sz="quarter" idx="4294967295"/>
          </p:nvPr>
        </p:nvSpPr>
        <p:spPr>
          <a:xfrm>
            <a:off x="8321040" y="4700016"/>
            <a:ext cx="36576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8A929E"/>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457200" y="320040"/>
            <a:ext cx="8229600" cy="256032"/>
          </a:xfrm>
          <a:prstGeom prst="rect">
            <a:avLst/>
          </a:prstGeom>
          <a:noFill/>
          <a:ln/>
        </p:spPr>
        <p:txBody>
          <a:bodyPr wrap="square" lIns="0" tIns="0" rIns="0" bIns="0" rtlCol="0" anchor="t"/>
          <a:lstStyle/>
          <a:p>
            <a:pPr indent="0" marL="0">
              <a:buNone/>
            </a:pPr>
            <a:r>
              <a:rPr lang="en-US" sz="1100" b="1" spc="150" kern="0" dirty="0">
                <a:solidFill>
                  <a:schemeClr val="accent1"/>
                </a:solidFill>
              </a:rPr>
              <a:t>MEASURING IMPACT</a:t>
            </a:r>
            <a:endParaRPr lang="en-US" sz="1100" dirty="0"/>
          </a:p>
        </p:txBody>
      </p:sp>
      <p:sp>
        <p:nvSpPr>
          <p:cNvPr id="3" name="Text 1"/>
          <p:cNvSpPr/>
          <p:nvPr>
            <p:ph idx="103" type="title" hasCustomPrompt="1"/>
          </p:nvPr>
        </p:nvSpPr>
        <p:spPr>
          <a:xfrm>
            <a:off x="457200" y="566928"/>
            <a:ext cx="8229600" cy="566928"/>
          </a:xfrm>
          <a:prstGeom prst="rect">
            <a:avLst/>
          </a:prstGeom>
          <a:noFill/>
          <a:ln/>
        </p:spPr>
        <p:txBody>
          <a:bodyPr wrap="square" lIns="0" tIns="0" rIns="0" bIns="0" rtlCol="0" anchor="t"/>
          <a:lstStyle/>
          <a:p>
            <a:pPr algn="l" indent="0" marL="0">
              <a:buNone/>
            </a:pPr>
            <a:r>
              <a:rPr lang="en-US" sz="2600" b="1" dirty="0">
                <a:solidFill>
                  <a:schemeClr val="tx1"/>
                </a:solidFill>
                <a:latin typeface="Arial" pitchFamily="34" charset="0"/>
                <a:ea typeface="Arial" pitchFamily="34" charset="-122"/>
                <a:cs typeface="Arial" pitchFamily="34" charset="-120"/>
              </a:rPr>
              <a:t>How we know early outreach is working</a:t>
            </a:r>
            <a:endParaRPr lang="en-US" sz="2600" dirty="0"/>
          </a:p>
        </p:txBody>
      </p:sp>
      <p:sp>
        <p:nvSpPr>
          <p:cNvPr id="4" name="Metric 1"/>
          <p:cNvSpPr/>
          <p:nvPr/>
        </p:nvSpPr>
        <p:spPr>
          <a:xfrm>
            <a:off x="457200" y="1417320"/>
            <a:ext cx="4023360" cy="868680"/>
          </a:xfrm>
          <a:prstGeom prst="roundRect">
            <a:avLst>
              <a:gd name="adj" fmla="val 12632"/>
            </a:avLst>
          </a:prstGeom>
          <a:solidFill>
            <a:schemeClr val="bg2"/>
          </a:solidFill>
          <a:ln w="12700">
            <a:solidFill>
              <a:srgbClr val="F3F4F6"/>
            </a:solidFill>
            <a:prstDash val="solid"/>
          </a:ln>
        </p:spPr>
      </p:sp>
      <p:sp>
        <p:nvSpPr>
          <p:cNvPr id="5" name="Shape 3"/>
          <p:cNvSpPr/>
          <p:nvPr/>
        </p:nvSpPr>
        <p:spPr>
          <a:xfrm>
            <a:off x="685800" y="1618488"/>
            <a:ext cx="457200" cy="457200"/>
          </a:xfrm>
          <a:prstGeom prst="ellipse">
            <a:avLst/>
          </a:prstGeom>
          <a:solidFill>
            <a:schemeClr val="bg1"/>
          </a:solidFill>
          <a:ln w="12700">
            <a:solidFill>
              <a:srgbClr val="E2E5EA"/>
            </a:solidFill>
            <a:prstDash val="solid"/>
          </a:ln>
        </p:spPr>
      </p:sp>
      <p:pic>
        <p:nvPicPr>
          <p:cNvPr id="6" name="Image 0" descr="preencoded.png">    </p:cNvPr>
          <p:cNvPicPr>
            <a:picLocks noChangeAspect="1"/>
          </p:cNvPicPr>
          <p:nvPr/>
        </p:nvPicPr>
        <p:blipFill>
          <a:blip r:embed="rId1"/>
          <a:stretch>
            <a:fillRect/>
          </a:stretch>
        </p:blipFill>
        <p:spPr>
          <a:xfrm>
            <a:off x="795528" y="1728216"/>
            <a:ext cx="237744" cy="237744"/>
          </a:xfrm>
          <a:prstGeom prst="rect">
            <a:avLst/>
          </a:prstGeom>
        </p:spPr>
      </p:pic>
      <p:sp>
        <p:nvSpPr>
          <p:cNvPr id="7" name="Text 4"/>
          <p:cNvSpPr txBox="1"/>
          <p:nvPr/>
        </p:nvSpPr>
        <p:spPr>
          <a:xfrm>
            <a:off x="1325880" y="1572768"/>
            <a:ext cx="2971800" cy="256032"/>
          </a:xfrm>
          <a:prstGeom prst="rect">
            <a:avLst/>
          </a:prstGeom>
          <a:noFill/>
          <a:ln/>
        </p:spPr>
        <p:txBody>
          <a:bodyPr wrap="square" lIns="0" tIns="0" rIns="0" bIns="0" rtlCol="0" anchor="t"/>
          <a:lstStyle/>
          <a:p>
            <a:pPr indent="0" marL="0">
              <a:buNone/>
            </a:pPr>
            <a:r>
              <a:rPr lang="en-US" sz="1400" b="1" dirty="0">
                <a:solidFill>
                  <a:schemeClr val="tx1"/>
                </a:solidFill>
              </a:rPr>
              <a:t>Department risk</a:t>
            </a:r>
            <a:endParaRPr lang="en-US" sz="1400" dirty="0"/>
          </a:p>
        </p:txBody>
      </p:sp>
      <p:sp>
        <p:nvSpPr>
          <p:cNvPr id="8" name="Text 5"/>
          <p:cNvSpPr txBox="1"/>
          <p:nvPr/>
        </p:nvSpPr>
        <p:spPr>
          <a:xfrm>
            <a:off x="1325880" y="1837944"/>
            <a:ext cx="2971800" cy="411480"/>
          </a:xfrm>
          <a:prstGeom prst="rect">
            <a:avLst/>
          </a:prstGeom>
          <a:noFill/>
          <a:ln/>
        </p:spPr>
        <p:txBody>
          <a:bodyPr wrap="square" lIns="0" tIns="0" rIns="0" bIns="0" rtlCol="0" anchor="t"/>
          <a:lstStyle/>
          <a:p>
            <a:pPr indent="0" marL="0">
              <a:buNone/>
            </a:pPr>
            <a:r>
              <a:rPr lang="en-US" sz="1200" dirty="0">
                <a:solidFill>
                  <a:srgbClr val="5B6472"/>
                </a:solidFill>
              </a:rPr>
              <a:t>Students at academic and placement risk, by department and cohort</a:t>
            </a:r>
            <a:endParaRPr lang="en-US" sz="1200" dirty="0"/>
          </a:p>
        </p:txBody>
      </p:sp>
      <p:sp>
        <p:nvSpPr>
          <p:cNvPr id="9" name="Metric 2"/>
          <p:cNvSpPr/>
          <p:nvPr/>
        </p:nvSpPr>
        <p:spPr>
          <a:xfrm>
            <a:off x="4663440" y="1417320"/>
            <a:ext cx="4023360" cy="868680"/>
          </a:xfrm>
          <a:prstGeom prst="roundRect">
            <a:avLst>
              <a:gd name="adj" fmla="val 12632"/>
            </a:avLst>
          </a:prstGeom>
          <a:solidFill>
            <a:schemeClr val="bg2"/>
          </a:solidFill>
          <a:ln w="12700">
            <a:solidFill>
              <a:srgbClr val="F3F4F6"/>
            </a:solidFill>
            <a:prstDash val="solid"/>
          </a:ln>
        </p:spPr>
      </p:sp>
      <p:sp>
        <p:nvSpPr>
          <p:cNvPr id="10" name="Shape 7"/>
          <p:cNvSpPr/>
          <p:nvPr/>
        </p:nvSpPr>
        <p:spPr>
          <a:xfrm>
            <a:off x="4892040" y="1618488"/>
            <a:ext cx="457200" cy="457200"/>
          </a:xfrm>
          <a:prstGeom prst="ellipse">
            <a:avLst/>
          </a:prstGeom>
          <a:solidFill>
            <a:schemeClr val="bg1"/>
          </a:solidFill>
          <a:ln w="12700">
            <a:solidFill>
              <a:srgbClr val="E2E5EA"/>
            </a:solidFill>
            <a:prstDash val="solid"/>
          </a:ln>
        </p:spPr>
      </p:sp>
      <p:pic>
        <p:nvPicPr>
          <p:cNvPr id="11" name="Image 1" descr="preencoded.png">    </p:cNvPr>
          <p:cNvPicPr>
            <a:picLocks noChangeAspect="1"/>
          </p:cNvPicPr>
          <p:nvPr/>
        </p:nvPicPr>
        <p:blipFill>
          <a:blip r:embed="rId2"/>
          <a:stretch>
            <a:fillRect/>
          </a:stretch>
        </p:blipFill>
        <p:spPr>
          <a:xfrm>
            <a:off x="5001768" y="1728216"/>
            <a:ext cx="237744" cy="237744"/>
          </a:xfrm>
          <a:prstGeom prst="rect">
            <a:avLst/>
          </a:prstGeom>
        </p:spPr>
      </p:pic>
      <p:sp>
        <p:nvSpPr>
          <p:cNvPr id="12" name="Text 8"/>
          <p:cNvSpPr txBox="1"/>
          <p:nvPr/>
        </p:nvSpPr>
        <p:spPr>
          <a:xfrm>
            <a:off x="5532120" y="1572768"/>
            <a:ext cx="2971800" cy="256032"/>
          </a:xfrm>
          <a:prstGeom prst="rect">
            <a:avLst/>
          </a:prstGeom>
          <a:noFill/>
          <a:ln/>
        </p:spPr>
        <p:txBody>
          <a:bodyPr wrap="square" lIns="0" tIns="0" rIns="0" bIns="0" rtlCol="0" anchor="t"/>
          <a:lstStyle/>
          <a:p>
            <a:pPr indent="0" marL="0">
              <a:buNone/>
            </a:pPr>
            <a:r>
              <a:rPr lang="en-US" sz="1400" b="1" dirty="0">
                <a:solidFill>
                  <a:schemeClr val="tx1"/>
                </a:solidFill>
              </a:rPr>
              <a:t>Intervention success</a:t>
            </a:r>
            <a:endParaRPr lang="en-US" sz="1400" dirty="0"/>
          </a:p>
        </p:txBody>
      </p:sp>
      <p:sp>
        <p:nvSpPr>
          <p:cNvPr id="13" name="Text 9"/>
          <p:cNvSpPr txBox="1"/>
          <p:nvPr/>
        </p:nvSpPr>
        <p:spPr>
          <a:xfrm>
            <a:off x="5532120" y="1837944"/>
            <a:ext cx="2971800" cy="411480"/>
          </a:xfrm>
          <a:prstGeom prst="rect">
            <a:avLst/>
          </a:prstGeom>
          <a:noFill/>
          <a:ln/>
        </p:spPr>
        <p:txBody>
          <a:bodyPr wrap="square" lIns="0" tIns="0" rIns="0" bIns="0" rtlCol="0" anchor="t"/>
          <a:lstStyle/>
          <a:p>
            <a:pPr indent="0" marL="0">
              <a:buNone/>
            </a:pPr>
            <a:r>
              <a:rPr lang="en-US" sz="1200" dirty="0">
                <a:solidFill>
                  <a:srgbClr val="5B6472"/>
                </a:solidFill>
              </a:rPr>
              <a:t>Share of flagged students whose risk improved after outreach</a:t>
            </a:r>
            <a:endParaRPr lang="en-US" sz="1200" dirty="0"/>
          </a:p>
        </p:txBody>
      </p:sp>
      <p:sp>
        <p:nvSpPr>
          <p:cNvPr id="14" name="Metric 3"/>
          <p:cNvSpPr/>
          <p:nvPr/>
        </p:nvSpPr>
        <p:spPr>
          <a:xfrm>
            <a:off x="457200" y="2441448"/>
            <a:ext cx="4023360" cy="868680"/>
          </a:xfrm>
          <a:prstGeom prst="roundRect">
            <a:avLst>
              <a:gd name="adj" fmla="val 12632"/>
            </a:avLst>
          </a:prstGeom>
          <a:solidFill>
            <a:schemeClr val="bg2"/>
          </a:solidFill>
          <a:ln w="12700">
            <a:solidFill>
              <a:srgbClr val="F3F4F6"/>
            </a:solidFill>
            <a:prstDash val="solid"/>
          </a:ln>
        </p:spPr>
      </p:sp>
      <p:sp>
        <p:nvSpPr>
          <p:cNvPr id="15" name="Shape 11"/>
          <p:cNvSpPr/>
          <p:nvPr/>
        </p:nvSpPr>
        <p:spPr>
          <a:xfrm>
            <a:off x="685800" y="2642616"/>
            <a:ext cx="457200" cy="457200"/>
          </a:xfrm>
          <a:prstGeom prst="ellipse">
            <a:avLst/>
          </a:prstGeom>
          <a:solidFill>
            <a:schemeClr val="bg1"/>
          </a:solidFill>
          <a:ln w="12700">
            <a:solidFill>
              <a:srgbClr val="E2E5EA"/>
            </a:solidFill>
            <a:prstDash val="solid"/>
          </a:ln>
        </p:spPr>
      </p:sp>
      <p:pic>
        <p:nvPicPr>
          <p:cNvPr id="16" name="Image 2" descr="preencoded.png">    </p:cNvPr>
          <p:cNvPicPr>
            <a:picLocks noChangeAspect="1"/>
          </p:cNvPicPr>
          <p:nvPr/>
        </p:nvPicPr>
        <p:blipFill>
          <a:blip r:embed="rId3"/>
          <a:stretch>
            <a:fillRect/>
          </a:stretch>
        </p:blipFill>
        <p:spPr>
          <a:xfrm>
            <a:off x="795528" y="2752344"/>
            <a:ext cx="237744" cy="237744"/>
          </a:xfrm>
          <a:prstGeom prst="rect">
            <a:avLst/>
          </a:prstGeom>
        </p:spPr>
      </p:pic>
      <p:sp>
        <p:nvSpPr>
          <p:cNvPr id="17" name="Text 12"/>
          <p:cNvSpPr txBox="1"/>
          <p:nvPr/>
        </p:nvSpPr>
        <p:spPr>
          <a:xfrm>
            <a:off x="1325880" y="2596896"/>
            <a:ext cx="2971800" cy="256032"/>
          </a:xfrm>
          <a:prstGeom prst="rect">
            <a:avLst/>
          </a:prstGeom>
          <a:noFill/>
          <a:ln/>
        </p:spPr>
        <p:txBody>
          <a:bodyPr wrap="square" lIns="0" tIns="0" rIns="0" bIns="0" rtlCol="0" anchor="t"/>
          <a:lstStyle/>
          <a:p>
            <a:pPr indent="0" marL="0">
              <a:buNone/>
            </a:pPr>
            <a:r>
              <a:rPr lang="en-US" sz="1400" b="1" dirty="0">
                <a:solidFill>
                  <a:schemeClr val="tx1"/>
                </a:solidFill>
              </a:rPr>
              <a:t>Follow-up closure</a:t>
            </a:r>
            <a:endParaRPr lang="en-US" sz="1400" dirty="0"/>
          </a:p>
        </p:txBody>
      </p:sp>
      <p:sp>
        <p:nvSpPr>
          <p:cNvPr id="18" name="Text 13"/>
          <p:cNvSpPr txBox="1"/>
          <p:nvPr/>
        </p:nvSpPr>
        <p:spPr>
          <a:xfrm>
            <a:off x="1325880" y="2862072"/>
            <a:ext cx="2971800" cy="411480"/>
          </a:xfrm>
          <a:prstGeom prst="rect">
            <a:avLst/>
          </a:prstGeom>
          <a:noFill/>
          <a:ln/>
        </p:spPr>
        <p:txBody>
          <a:bodyPr wrap="square" lIns="0" tIns="0" rIns="0" bIns="0" rtlCol="0" anchor="t"/>
          <a:lstStyle/>
          <a:p>
            <a:pPr indent="0" marL="0">
              <a:buNone/>
            </a:pPr>
            <a:r>
              <a:rPr lang="en-US" sz="1200" dirty="0">
                <a:solidFill>
                  <a:srgbClr val="5B6472"/>
                </a:solidFill>
              </a:rPr>
              <a:t>Share of flagged students with a mentor follow-up completed</a:t>
            </a:r>
            <a:endParaRPr lang="en-US" sz="1200" dirty="0"/>
          </a:p>
        </p:txBody>
      </p:sp>
      <p:sp>
        <p:nvSpPr>
          <p:cNvPr id="19" name="Metric 4"/>
          <p:cNvSpPr/>
          <p:nvPr/>
        </p:nvSpPr>
        <p:spPr>
          <a:xfrm>
            <a:off x="4663440" y="2441448"/>
            <a:ext cx="4023360" cy="868680"/>
          </a:xfrm>
          <a:prstGeom prst="roundRect">
            <a:avLst>
              <a:gd name="adj" fmla="val 12632"/>
            </a:avLst>
          </a:prstGeom>
          <a:solidFill>
            <a:schemeClr val="bg2"/>
          </a:solidFill>
          <a:ln w="12700">
            <a:solidFill>
              <a:srgbClr val="F3F4F6"/>
            </a:solidFill>
            <a:prstDash val="solid"/>
          </a:ln>
        </p:spPr>
      </p:sp>
      <p:sp>
        <p:nvSpPr>
          <p:cNvPr id="20" name="Shape 15"/>
          <p:cNvSpPr/>
          <p:nvPr/>
        </p:nvSpPr>
        <p:spPr>
          <a:xfrm>
            <a:off x="4892040" y="2642616"/>
            <a:ext cx="457200" cy="457200"/>
          </a:xfrm>
          <a:prstGeom prst="ellipse">
            <a:avLst/>
          </a:prstGeom>
          <a:solidFill>
            <a:schemeClr val="bg1"/>
          </a:solidFill>
          <a:ln w="12700">
            <a:solidFill>
              <a:srgbClr val="E2E5EA"/>
            </a:solidFill>
            <a:prstDash val="solid"/>
          </a:ln>
        </p:spPr>
      </p:sp>
      <p:pic>
        <p:nvPicPr>
          <p:cNvPr id="21" name="Image 3" descr="preencoded.png">    </p:cNvPr>
          <p:cNvPicPr>
            <a:picLocks noChangeAspect="1"/>
          </p:cNvPicPr>
          <p:nvPr/>
        </p:nvPicPr>
        <p:blipFill>
          <a:blip r:embed="rId4"/>
          <a:stretch>
            <a:fillRect/>
          </a:stretch>
        </p:blipFill>
        <p:spPr>
          <a:xfrm>
            <a:off x="5001768" y="2752344"/>
            <a:ext cx="237744" cy="237744"/>
          </a:xfrm>
          <a:prstGeom prst="rect">
            <a:avLst/>
          </a:prstGeom>
        </p:spPr>
      </p:pic>
      <p:sp>
        <p:nvSpPr>
          <p:cNvPr id="22" name="Text 16"/>
          <p:cNvSpPr txBox="1"/>
          <p:nvPr/>
        </p:nvSpPr>
        <p:spPr>
          <a:xfrm>
            <a:off x="5532120" y="2596896"/>
            <a:ext cx="2971800" cy="256032"/>
          </a:xfrm>
          <a:prstGeom prst="rect">
            <a:avLst/>
          </a:prstGeom>
          <a:noFill/>
          <a:ln/>
        </p:spPr>
        <p:txBody>
          <a:bodyPr wrap="square" lIns="0" tIns="0" rIns="0" bIns="0" rtlCol="0" anchor="t"/>
          <a:lstStyle/>
          <a:p>
            <a:pPr indent="0" marL="0">
              <a:buNone/>
            </a:pPr>
            <a:r>
              <a:rPr lang="en-US" sz="1400" b="1" dirty="0">
                <a:solidFill>
                  <a:schemeClr val="tx1"/>
                </a:solidFill>
              </a:rPr>
              <a:t>Risk trends</a:t>
            </a:r>
            <a:endParaRPr lang="en-US" sz="1400" dirty="0"/>
          </a:p>
        </p:txBody>
      </p:sp>
      <p:sp>
        <p:nvSpPr>
          <p:cNvPr id="23" name="Text 17"/>
          <p:cNvSpPr txBox="1"/>
          <p:nvPr/>
        </p:nvSpPr>
        <p:spPr>
          <a:xfrm>
            <a:off x="5532120" y="2862072"/>
            <a:ext cx="2971800" cy="411480"/>
          </a:xfrm>
          <a:prstGeom prst="rect">
            <a:avLst/>
          </a:prstGeom>
          <a:noFill/>
          <a:ln/>
        </p:spPr>
        <p:txBody>
          <a:bodyPr wrap="square" lIns="0" tIns="0" rIns="0" bIns="0" rtlCol="0" anchor="t"/>
          <a:lstStyle/>
          <a:p>
            <a:pPr indent="0" marL="0">
              <a:buNone/>
            </a:pPr>
            <a:r>
              <a:rPr lang="en-US" sz="1200" dirty="0">
                <a:solidFill>
                  <a:srgbClr val="5B6472"/>
                </a:solidFill>
              </a:rPr>
              <a:t>Academic and placement risk tracked week by week across the term</a:t>
            </a:r>
            <a:endParaRPr lang="en-US" sz="1200" dirty="0"/>
          </a:p>
        </p:txBody>
      </p:sp>
      <p:sp>
        <p:nvSpPr>
          <p:cNvPr id="24" name="Outcome banner"/>
          <p:cNvSpPr/>
          <p:nvPr/>
        </p:nvSpPr>
        <p:spPr>
          <a:xfrm>
            <a:off x="457200" y="3611880"/>
            <a:ext cx="8229600" cy="731520"/>
          </a:xfrm>
          <a:prstGeom prst="roundRect">
            <a:avLst>
              <a:gd name="adj" fmla="val 15000"/>
            </a:avLst>
          </a:prstGeom>
          <a:solidFill>
            <a:schemeClr val="tx1"/>
          </a:solidFill>
          <a:ln w="12700">
            <a:solidFill>
              <a:srgbClr val="0D1117"/>
            </a:solidFill>
            <a:prstDash val="solid"/>
          </a:ln>
        </p:spPr>
      </p:sp>
      <p:sp>
        <p:nvSpPr>
          <p:cNvPr id="25" name="Text 19"/>
          <p:cNvSpPr txBox="1"/>
          <p:nvPr/>
        </p:nvSpPr>
        <p:spPr>
          <a:xfrm>
            <a:off x="731520" y="3611880"/>
            <a:ext cx="7680960" cy="731520"/>
          </a:xfrm>
          <a:prstGeom prst="rect">
            <a:avLst/>
          </a:prstGeom>
          <a:noFill/>
          <a:ln/>
        </p:spPr>
        <p:txBody>
          <a:bodyPr wrap="square" lIns="0" tIns="0" rIns="0" bIns="0" rtlCol="0" anchor="ctr"/>
          <a:lstStyle/>
          <a:p>
            <a:pPr indent="0" marL="0">
              <a:buNone/>
            </a:pPr>
            <a:r>
              <a:rPr lang="en-US" sz="1400" b="1" dirty="0">
                <a:solidFill>
                  <a:schemeClr val="accent3"/>
                </a:solidFill>
              </a:rPr>
              <a:t>The shift: </a:t>
            </a:r>
            <a:pPr indent="0" marL="0">
              <a:buNone/>
            </a:pPr>
            <a:r>
              <a:rPr lang="en-US" sz="1400" dirty="0">
                <a:solidFill>
                  <a:schemeClr val="bg1"/>
                </a:solidFill>
              </a:rPr>
              <a:t>from warning letters after results to supportive mentoring mid-semester, when it still changes outcomes.</a:t>
            </a:r>
            <a:endParaRPr lang="en-US" sz="1400" dirty="0"/>
          </a:p>
        </p:txBody>
      </p:sp>
      <p:sp>
        <p:nvSpPr>
          <p:cNvPr id="25" name="Slide Number Placeholder 0"/>
          <p:cNvSpPr>
            <a:spLocks noGrp="1"/>
          </p:cNvSpPr>
          <p:nvPr>
            <p:ph type="sldNum" sz="quarter" idx="4294967295"/>
          </p:nvPr>
        </p:nvSpPr>
        <p:spPr>
          <a:xfrm>
            <a:off x="8321040" y="4700016"/>
            <a:ext cx="36576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8A929E"/>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Logo" descr="logo.png">    </p:cNvPr>
          <p:cNvPicPr>
            <a:picLocks noChangeAspect="1"/>
          </p:cNvPicPr>
          <p:nvPr/>
        </p:nvPicPr>
        <p:blipFill>
          <a:blip r:embed="rId1"/>
          <a:stretch>
            <a:fillRect/>
          </a:stretch>
        </p:blipFill>
        <p:spPr>
          <a:xfrm>
            <a:off x="548640" y="502920"/>
            <a:ext cx="384048" cy="384048"/>
          </a:xfrm>
          <a:prstGeom prst="rect">
            <a:avLst/>
          </a:prstGeom>
        </p:spPr>
      </p:pic>
      <p:sp>
        <p:nvSpPr>
          <p:cNvPr id="3" name="Text 0"/>
          <p:cNvSpPr txBox="1"/>
          <p:nvPr/>
        </p:nvSpPr>
        <p:spPr>
          <a:xfrm>
            <a:off x="1024128" y="502920"/>
            <a:ext cx="2743200" cy="384048"/>
          </a:xfrm>
          <a:prstGeom prst="rect">
            <a:avLst/>
          </a:prstGeom>
          <a:noFill/>
          <a:ln/>
        </p:spPr>
        <p:txBody>
          <a:bodyPr wrap="square" lIns="0" tIns="0" rIns="0" bIns="0" rtlCol="0" anchor="ctr"/>
          <a:lstStyle/>
          <a:p>
            <a:pPr indent="0" marL="0">
              <a:buNone/>
            </a:pPr>
            <a:r>
              <a:rPr lang="en-US" sz="1800" b="1" dirty="0">
                <a:solidFill>
                  <a:schemeClr val="bg1"/>
                </a:solidFill>
                <a:latin typeface="Arial" pitchFamily="34" charset="0"/>
                <a:ea typeface="Arial" pitchFamily="34" charset="-122"/>
                <a:cs typeface="Arial" pitchFamily="34" charset="-120"/>
              </a:rPr>
              <a:t>CampusPulse</a:t>
            </a:r>
            <a:endParaRPr lang="en-US" sz="1800" dirty="0"/>
          </a:p>
        </p:txBody>
      </p:sp>
      <p:sp>
        <p:nvSpPr>
          <p:cNvPr id="4" name="Thanks"/>
          <p:cNvSpPr txBox="1"/>
          <p:nvPr/>
        </p:nvSpPr>
        <p:spPr>
          <a:xfrm>
            <a:off x="548640" y="1463040"/>
            <a:ext cx="7772400" cy="822960"/>
          </a:xfrm>
          <a:prstGeom prst="rect">
            <a:avLst/>
          </a:prstGeom>
          <a:noFill/>
          <a:ln/>
        </p:spPr>
        <p:txBody>
          <a:bodyPr wrap="square" lIns="0" tIns="0" rIns="0" bIns="0" rtlCol="0" anchor="t"/>
          <a:lstStyle/>
          <a:p>
            <a:pPr indent="0" marL="0">
              <a:buNone/>
            </a:pPr>
            <a:r>
              <a:rPr lang="en-US" sz="4400" b="1" dirty="0">
                <a:solidFill>
                  <a:schemeClr val="bg1"/>
                </a:solidFill>
                <a:latin typeface="Arial" pitchFamily="34" charset="0"/>
                <a:ea typeface="Arial" pitchFamily="34" charset="-122"/>
                <a:cs typeface="Arial" pitchFamily="34" charset="-120"/>
              </a:rPr>
              <a:t>Thank you, judges</a:t>
            </a:r>
            <a:endParaRPr lang="en-US" sz="4400" dirty="0"/>
          </a:p>
        </p:txBody>
      </p:sp>
      <p:sp>
        <p:nvSpPr>
          <p:cNvPr id="5" name="Text 2"/>
          <p:cNvSpPr txBox="1"/>
          <p:nvPr/>
        </p:nvSpPr>
        <p:spPr>
          <a:xfrm>
            <a:off x="548640" y="2377440"/>
            <a:ext cx="6858000" cy="640080"/>
          </a:xfrm>
          <a:prstGeom prst="rect">
            <a:avLst/>
          </a:prstGeom>
          <a:noFill/>
          <a:ln/>
        </p:spPr>
        <p:txBody>
          <a:bodyPr wrap="square" lIns="0" tIns="0" rIns="0" bIns="0" rtlCol="0" anchor="t"/>
          <a:lstStyle/>
          <a:p>
            <a:pPr indent="0" marL="0">
              <a:buNone/>
            </a:pPr>
            <a:r>
              <a:rPr lang="en-US" sz="1600" dirty="0">
                <a:solidFill>
                  <a:srgbClr val="A9B0BC"/>
                </a:solidFill>
              </a:rPr>
              <a:t>Turning scattered campus data into clear, explainable mentor actions before results day.</a:t>
            </a:r>
            <a:endParaRPr lang="en-US" sz="1600" dirty="0"/>
          </a:p>
        </p:txBody>
      </p:sp>
      <p:sp>
        <p:nvSpPr>
          <p:cNvPr id="6" name="Live link"/>
          <p:cNvSpPr txBox="1"/>
          <p:nvPr/>
        </p:nvSpPr>
        <p:spPr>
          <a:xfrm>
            <a:off x="548640" y="3246120"/>
            <a:ext cx="7315200" cy="320040"/>
          </a:xfrm>
          <a:prstGeom prst="rect">
            <a:avLst/>
          </a:prstGeom>
          <a:noFill/>
          <a:ln/>
        </p:spPr>
        <p:txBody>
          <a:bodyPr wrap="square" lIns="0" tIns="0" rIns="0" bIns="0" rtlCol="0" anchor="t"/>
          <a:lstStyle/>
          <a:p>
            <a:pPr indent="0" marL="0">
              <a:buNone/>
            </a:pPr>
            <a:r>
              <a:rPr lang="en-US" sz="1400" dirty="0">
                <a:solidFill>
                  <a:srgbClr val="A9B0BC"/>
                </a:solidFill>
              </a:rPr>
              <a:t>Try it live  </a:t>
            </a:r>
            <a:pPr indent="0" marL="0">
              <a:buNone/>
            </a:pPr>
            <a:r>
              <a:rPr lang="en-US" sz="1400" b="1" u="sng" dirty="0">
                <a:solidFill>
                  <a:schemeClr val="accent3"/>
                </a:solidFill>
                <a:hlinkClick r:id="rId2" invalidUrl="" action="" tgtFrame="" tooltip="" history="1" highlightClick="0" endSnd="0">
                  <a:extLst>
                    <a:ext uri="{A12FA001-AC4F-418D-AE19-62706E023703}">
                      <ahyp:hlinkClr xmlns:ahyp="http://schemas.microsoft.com/office/drawing/2018/hyperlinkcolor" val="tx"/>
                    </a:ext>
                  </a:extLst>
                </a:hlinkClick>
              </a:rPr>
              <a:t>frontend-production-852be.up.railway.app</a:t>
            </a:r>
            <a:endParaRPr lang="en-US" sz="1400" dirty="0"/>
          </a:p>
        </p:txBody>
      </p:sp>
      <p:sp>
        <p:nvSpPr>
          <p:cNvPr id="7" name="Text 4"/>
          <p:cNvSpPr txBox="1"/>
          <p:nvPr/>
        </p:nvSpPr>
        <p:spPr>
          <a:xfrm>
            <a:off x="548640" y="4069080"/>
            <a:ext cx="3657600" cy="502920"/>
          </a:xfrm>
          <a:prstGeom prst="rect">
            <a:avLst/>
          </a:prstGeom>
          <a:noFill/>
          <a:ln/>
        </p:spPr>
        <p:txBody>
          <a:bodyPr wrap="square" lIns="0" tIns="0" rIns="0" bIns="0" rtlCol="0" anchor="t"/>
          <a:lstStyle/>
          <a:p>
            <a:pPr indent="0" marL="0">
              <a:buNone/>
            </a:pPr>
            <a:r>
              <a:rPr lang="en-US" sz="1200" b="1" dirty="0">
                <a:solidFill>
                  <a:schemeClr val="bg1"/>
                </a:solidFill>
              </a:rPr>
              <a:t>Team Cognitive Creators</a:t>
            </a:r>
            <a:endParaRPr lang="en-US" sz="1200" dirty="0"/>
          </a:p>
          <a:p>
            <a:pPr indent="0" marL="0">
              <a:buNone/>
            </a:pPr>
            <a:r>
              <a:rPr lang="en-US" sz="1200" dirty="0">
                <a:solidFill>
                  <a:srgbClr val="A9B0BC"/>
                </a:solidFill>
              </a:rPr>
              <a:t>Team ID XL0678</a:t>
            </a:r>
            <a:endParaRPr lang="en-US" sz="1200" dirty="0"/>
          </a:p>
        </p:txBody>
      </p:sp>
    </p:spTree>
  </p:cSld>
  <p:clrMapOvr>
    <a:masterClrMapping/>
  </p:clrMapOvr>
</p:sld>
</file>

<file path=ppt/theme/theme1.xml><?xml version="1.0" encoding="utf-8"?>
<a:theme xmlns:a="http://schemas.openxmlformats.org/drawingml/2006/main" name="CampusPulse">
  <a:themeElements>
    <a:clrScheme name="CampusPulse">
      <a:dk1>
        <a:srgbClr val="0D1117"/>
      </a:dk1>
      <a:lt1>
        <a:srgbClr val="FFFFFF"/>
      </a:lt1>
      <a:dk2>
        <a:srgbClr val="0A0B0D"/>
      </a:dk2>
      <a:lt2>
        <a:srgbClr val="F3F4F6"/>
      </a:lt2>
      <a:accent1>
        <a:srgbClr val="2A78D6"/>
      </a:accent1>
      <a:accent2>
        <a:srgbClr val="EB6834"/>
      </a:accent2>
      <a:accent3>
        <a:srgbClr val="C8F13C"/>
      </a:accent3>
      <a:accent4>
        <a:srgbClr val="D03B3B"/>
      </a:accent4>
      <a:accent5>
        <a:srgbClr val="FAB219"/>
      </a:accent5>
      <a:accent6>
        <a:srgbClr val="0CA30C"/>
      </a:accent6>
      <a:hlink>
        <a:srgbClr val="2A78D6"/>
      </a:hlink>
      <a:folHlink>
        <a:srgbClr val="2A78D6"/>
      </a:folHlink>
    </a:clrScheme>
    <a:fontScheme name="CampusPuls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CampusPulse</dc:title>
  <dc:subject>PptxGenJS Presentation</dc:subject>
  <dc:creator>Team Cognitive Creators</dc:creator>
  <cp:lastModifiedBy>Team Cognitive Creators</cp:lastModifiedBy>
  <cp:revision>1</cp:revision>
  <dcterms:created xsi:type="dcterms:W3CDTF">2026-10-10T23:31:18Z</dcterms:created>
  <dcterms:modified xsi:type="dcterms:W3CDTF">2026-10-10T23:31:18Z</dcterms:modified>
</cp:coreProperties>
</file>